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sldIdLst>
    <p:sldId id="257" r:id="rId2"/>
    <p:sldId id="258" r:id="rId3"/>
    <p:sldId id="259" r:id="rId4"/>
    <p:sldId id="260" r:id="rId5"/>
    <p:sldId id="261" r:id="rId6"/>
    <p:sldId id="262" r:id="rId7"/>
    <p:sldId id="263" r:id="rId8"/>
    <p:sldId id="264" r:id="rId9"/>
    <p:sldId id="265" r:id="rId10"/>
    <p:sldId id="267" r:id="rId11"/>
    <p:sldId id="268" r:id="rId12"/>
    <p:sldId id="269" r:id="rId13"/>
    <p:sldId id="270" r:id="rId14"/>
    <p:sldId id="271" r:id="rId15"/>
    <p:sldId id="272" r:id="rId16"/>
    <p:sldId id="273" r:id="rId17"/>
    <p:sldId id="266"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144"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8D9E79-C679-471E-8C66-6981EBE8A713}" type="datetimeFigureOut">
              <a:rPr lang="en-IN" smtClean="0"/>
              <a:t>30-05-2024</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1108847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8D9E79-C679-471E-8C66-6981EBE8A713}" type="datetimeFigureOut">
              <a:rPr lang="en-IN" smtClean="0"/>
              <a:t>30-05-2024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3205631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8D9E79-C679-471E-8C66-6981EBE8A713}" type="datetimeFigureOut">
              <a:rPr lang="en-IN" smtClean="0"/>
              <a:t>30-05-2024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271780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8D9E79-C679-471E-8C66-6981EBE8A713}" type="datetimeFigureOut">
              <a:rPr lang="en-IN" smtClean="0"/>
              <a:t>30-05-2024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1328616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8D9E79-C679-471E-8C66-6981EBE8A713}" type="datetimeFigureOut">
              <a:rPr lang="en-IN" smtClean="0"/>
              <a:t>30-05-2024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1715852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8D9E79-C679-471E-8C66-6981EBE8A713}" type="datetimeFigureOut">
              <a:rPr lang="en-IN" smtClean="0"/>
              <a:t>30-05-2024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4267351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8D9E79-C679-471E-8C66-6981EBE8A713}" type="datetimeFigureOut">
              <a:rPr lang="en-IN" smtClean="0"/>
              <a:t>30-05-2024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2495799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8D9E79-C679-471E-8C66-6981EBE8A713}" type="datetimeFigureOut">
              <a:rPr lang="en-IN" smtClean="0"/>
              <a:t>30-05-2024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1428446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8D9E79-C679-471E-8C66-6981EBE8A713}" type="datetimeFigureOut">
              <a:rPr lang="en-IN" smtClean="0"/>
              <a:t>30-05-2024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3654287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8D9E79-C679-471E-8C66-6981EBE8A713}" type="datetimeFigureOut">
              <a:rPr lang="en-IN" smtClean="0"/>
              <a:t>30-05-2024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3668879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8D9E79-C679-471E-8C66-6981EBE8A713}" type="datetimeFigureOut">
              <a:rPr lang="en-IN" smtClean="0"/>
              <a:t>30-05-2024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4157615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8D9E79-C679-471E-8C66-6981EBE8A713}" type="datetimeFigureOut">
              <a:rPr lang="en-IN" smtClean="0"/>
              <a:t>30-05-2024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40005616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8D9E79-C679-471E-8C66-6981EBE8A713}" type="datetimeFigureOut">
              <a:rPr lang="en-IN" smtClean="0"/>
              <a:t>30-05-2024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3438027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8D9E79-C679-471E-8C66-6981EBE8A713}" type="datetimeFigureOut">
              <a:rPr lang="en-IN" smtClean="0"/>
              <a:t>30-05-2024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4236256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8D9E79-C679-471E-8C66-6981EBE8A713}" type="datetimeFigureOut">
              <a:rPr lang="en-IN" smtClean="0"/>
              <a:t>30-05-2024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22606559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8D9E79-C679-471E-8C66-6981EBE8A713}" type="datetimeFigureOut">
              <a:rPr lang="en-IN" smtClean="0"/>
              <a:t>30-05-2024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27346360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8D9E79-C679-471E-8C66-6981EBE8A713}" type="datetimeFigureOut">
              <a:rPr lang="en-IN" smtClean="0"/>
              <a:t>30-05-2024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25952F-A848-4CA0-861A-3924966FC1F1}" type="slidenum">
              <a:rPr lang="en-IN" smtClean="0"/>
              <a:t>‹#›</a:t>
            </a:fld>
            <a:endParaRPr lang="en-IN"/>
          </a:p>
        </p:txBody>
      </p:sp>
    </p:spTree>
    <p:extLst>
      <p:ext uri="{BB962C8B-B14F-4D97-AF65-F5344CB8AC3E}">
        <p14:creationId xmlns:p14="http://schemas.microsoft.com/office/powerpoint/2010/main" val="1203198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8D9E79-C679-471E-8C66-6981EBE8A713}" type="datetimeFigureOut">
              <a:rPr lang="en-IN" smtClean="0"/>
              <a:t>30-05-2024</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D25952F-A848-4CA0-861A-3924966FC1F1}" type="slidenum">
              <a:rPr lang="en-IN" smtClean="0"/>
              <a:t>‹#›</a:t>
            </a:fld>
            <a:endParaRPr lang="en-IN"/>
          </a:p>
        </p:txBody>
      </p:sp>
    </p:spTree>
    <p:extLst>
      <p:ext uri="{BB962C8B-B14F-4D97-AF65-F5344CB8AC3E}">
        <p14:creationId xmlns:p14="http://schemas.microsoft.com/office/powerpoint/2010/main" val="1393372521"/>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 id="214748379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15621-2848-434F-B906-205BB6718482}"/>
              </a:ext>
            </a:extLst>
          </p:cNvPr>
          <p:cNvSpPr>
            <a:spLocks noGrp="1"/>
          </p:cNvSpPr>
          <p:nvPr>
            <p:ph type="ctrTitle"/>
          </p:nvPr>
        </p:nvSpPr>
        <p:spPr>
          <a:xfrm>
            <a:off x="1683171" y="435429"/>
            <a:ext cx="8825658" cy="627018"/>
          </a:xfrm>
          <a:solidFill>
            <a:schemeClr val="accent1">
              <a:alpha val="14000"/>
            </a:schemeClr>
          </a:solidFill>
          <a:ln>
            <a:noFill/>
          </a:ln>
        </p:spPr>
        <p:txBody>
          <a:bodyPr>
            <a:normAutofit/>
          </a:bodyPr>
          <a:lstStyle/>
          <a:p>
            <a:pPr algn="ctr"/>
            <a:r>
              <a:rPr lang="en-US" sz="3200" b="1" dirty="0">
                <a:latin typeface="Times New Roman" panose="02020603050405020304" pitchFamily="18" charset="0"/>
                <a:cs typeface="Times New Roman" panose="02020603050405020304" pitchFamily="18" charset="0"/>
              </a:rPr>
              <a:t>HR ANALYSIS</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0F3B4A0-16B3-45A1-994A-BDFE57CDC5B6}"/>
              </a:ext>
            </a:extLst>
          </p:cNvPr>
          <p:cNvSpPr>
            <a:spLocks noGrp="1"/>
          </p:cNvSpPr>
          <p:nvPr>
            <p:ph type="subTitle" idx="1"/>
          </p:nvPr>
        </p:nvSpPr>
        <p:spPr>
          <a:xfrm>
            <a:off x="6877050" y="3120389"/>
            <a:ext cx="3631779" cy="2612573"/>
          </a:xfrm>
        </p:spPr>
        <p:txBody>
          <a:bodyPr>
            <a:normAutofit/>
          </a:bodyPr>
          <a:lstStyle/>
          <a:p>
            <a:endParaRPr lang="en-IN" b="0" i="0" dirty="0">
              <a:solidFill>
                <a:srgbClr val="222222"/>
              </a:solidFill>
              <a:effectLst/>
              <a:latin typeface="Calibri" panose="020F0502020204030204" pitchFamily="34" charset="0"/>
            </a:endParaRPr>
          </a:p>
          <a:p>
            <a:pPr marL="342900" indent="-342900">
              <a:buFont typeface="Arial" panose="020B0604020202020204" pitchFamily="34" charset="0"/>
              <a:buChar char="•"/>
            </a:pPr>
            <a:endParaRPr lang="en-IN" b="0" i="0" dirty="0">
              <a:solidFill>
                <a:schemeClr val="tx1"/>
              </a:solidFill>
              <a:effectLst/>
              <a:latin typeface="arial" panose="020B0604020202020204" pitchFamily="34" charset="0"/>
            </a:endParaRPr>
          </a:p>
          <a:p>
            <a:endParaRPr lang="en-IN" dirty="0">
              <a:solidFill>
                <a:schemeClr val="tx1"/>
              </a:solidFill>
            </a:endParaRPr>
          </a:p>
        </p:txBody>
      </p:sp>
      <p:sp>
        <p:nvSpPr>
          <p:cNvPr id="9" name="TextBox 8">
            <a:extLst>
              <a:ext uri="{FF2B5EF4-FFF2-40B4-BE49-F238E27FC236}">
                <a16:creationId xmlns:a16="http://schemas.microsoft.com/office/drawing/2014/main" id="{B58C65C4-2E71-4358-B2D8-77BFDE0479B0}"/>
              </a:ext>
            </a:extLst>
          </p:cNvPr>
          <p:cNvSpPr txBox="1"/>
          <p:nvPr/>
        </p:nvSpPr>
        <p:spPr>
          <a:xfrm>
            <a:off x="1848255" y="2395368"/>
            <a:ext cx="8660574" cy="646331"/>
          </a:xfrm>
          <a:prstGeom prst="rect">
            <a:avLst/>
          </a:prstGeom>
          <a:noFill/>
          <a:ln>
            <a:noFill/>
          </a:ln>
        </p:spPr>
        <p:txBody>
          <a:bodyPr wrap="square" rtlCol="0">
            <a:spAutoFit/>
          </a:bodyPr>
          <a:lstStyle/>
          <a:p>
            <a:pPr algn="ctr"/>
            <a:r>
              <a:rPr lang="en-IN" sz="3600" b="1" i="0" dirty="0">
                <a:solidFill>
                  <a:schemeClr val="tx1"/>
                </a:solidFill>
                <a:effectLst/>
                <a:latin typeface="arial" panose="020B0604020202020204" pitchFamily="34" charset="0"/>
              </a:rPr>
              <a:t>GROUP – 3</a:t>
            </a:r>
          </a:p>
        </p:txBody>
      </p:sp>
    </p:spTree>
    <p:extLst>
      <p:ext uri="{BB962C8B-B14F-4D97-AF65-F5344CB8AC3E}">
        <p14:creationId xmlns:p14="http://schemas.microsoft.com/office/powerpoint/2010/main" val="3043417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267A2-7C9F-4F07-9549-13F440C6B276}"/>
              </a:ext>
            </a:extLst>
          </p:cNvPr>
          <p:cNvSpPr>
            <a:spLocks noGrp="1"/>
          </p:cNvSpPr>
          <p:nvPr>
            <p:ph type="title"/>
          </p:nvPr>
        </p:nvSpPr>
        <p:spPr>
          <a:xfrm>
            <a:off x="5047455" y="226423"/>
            <a:ext cx="2097089" cy="592184"/>
          </a:xfrm>
          <a:solidFill>
            <a:schemeClr val="accent1">
              <a:alpha val="14000"/>
            </a:schemeClr>
          </a:solidFill>
          <a:ln>
            <a:noFill/>
          </a:ln>
          <a:effectLst/>
        </p:spPr>
        <p:txBody>
          <a:bodyPr vert="horz" lIns="91440" tIns="45720" rIns="91440" bIns="45720" rtlCol="0" anchor="b">
            <a:normAutofit/>
          </a:bodyPr>
          <a:lstStyle/>
          <a:p>
            <a:r>
              <a:rPr lang="en-US" sz="3200" b="1" dirty="0">
                <a:latin typeface="Times New Roman" panose="02020603050405020304" pitchFamily="18" charset="0"/>
                <a:cs typeface="Times New Roman" panose="02020603050405020304" pitchFamily="18" charset="0"/>
              </a:rPr>
              <a:t>INDEX</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BBCDB45-597E-4C07-AA20-78BB272AF776}"/>
              </a:ext>
            </a:extLst>
          </p:cNvPr>
          <p:cNvSpPr>
            <a:spLocks noGrp="1"/>
          </p:cNvSpPr>
          <p:nvPr>
            <p:ph idx="1"/>
          </p:nvPr>
        </p:nvSpPr>
        <p:spPr>
          <a:xfrm>
            <a:off x="2075335" y="1089129"/>
            <a:ext cx="5944239" cy="5077096"/>
          </a:xfrm>
        </p:spPr>
        <p:txBody>
          <a:bodyPr>
            <a:normAutofit fontScale="92500" lnSpcReduction="10000"/>
          </a:bodyPr>
          <a:lstStyle/>
          <a:p>
            <a:pPr>
              <a:buClr>
                <a:schemeClr val="tx1"/>
              </a:buClr>
              <a:buSzPct val="81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INTRODUCTION</a:t>
            </a:r>
          </a:p>
          <a:p>
            <a:pPr>
              <a:buClr>
                <a:schemeClr val="tx1"/>
              </a:buClr>
              <a:buSzPct val="81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KPI -1 : </a:t>
            </a:r>
            <a:r>
              <a:rPr lang="en-IN" sz="1900" dirty="0">
                <a:latin typeface="Times New Roman" panose="02020603050405020304" pitchFamily="18" charset="0"/>
                <a:cs typeface="Times New Roman" panose="02020603050405020304" pitchFamily="18" charset="0"/>
              </a:rPr>
              <a:t>Average Attrition rate for all Departments</a:t>
            </a:r>
            <a:endParaRPr lang="en-US" sz="1900" dirty="0">
              <a:latin typeface="Times New Roman" panose="02020603050405020304" pitchFamily="18" charset="0"/>
              <a:cs typeface="Times New Roman" panose="02020603050405020304" pitchFamily="18" charset="0"/>
            </a:endParaRPr>
          </a:p>
          <a:p>
            <a:pPr>
              <a:buClr>
                <a:schemeClr val="tx1"/>
              </a:buClr>
              <a:buSzPct val="81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KPI -2 : </a:t>
            </a:r>
            <a:r>
              <a:rPr lang="en-IN" sz="1900" dirty="0">
                <a:latin typeface="Times New Roman" panose="02020603050405020304" pitchFamily="18" charset="0"/>
                <a:cs typeface="Times New Roman" panose="02020603050405020304" pitchFamily="18" charset="0"/>
              </a:rPr>
              <a:t>Average Hourly rate of Male Research Scientist</a:t>
            </a:r>
            <a:endParaRPr lang="en-US" sz="1900" dirty="0">
              <a:latin typeface="Times New Roman" panose="02020603050405020304" pitchFamily="18" charset="0"/>
              <a:cs typeface="Times New Roman" panose="02020603050405020304" pitchFamily="18" charset="0"/>
            </a:endParaRPr>
          </a:p>
          <a:p>
            <a:pPr>
              <a:buClr>
                <a:schemeClr val="tx1"/>
              </a:buClr>
              <a:buSzPct val="81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KPI -3 : </a:t>
            </a:r>
            <a:r>
              <a:rPr lang="en-IN" sz="1900" dirty="0">
                <a:latin typeface="Times New Roman" panose="02020603050405020304" pitchFamily="18" charset="0"/>
                <a:cs typeface="Times New Roman" panose="02020603050405020304" pitchFamily="18" charset="0"/>
              </a:rPr>
              <a:t>Attrition rate Vs Monthly income stats</a:t>
            </a:r>
            <a:endParaRPr lang="en-US" sz="1900" dirty="0">
              <a:latin typeface="Times New Roman" panose="02020603050405020304" pitchFamily="18" charset="0"/>
              <a:cs typeface="Times New Roman" panose="02020603050405020304" pitchFamily="18" charset="0"/>
            </a:endParaRPr>
          </a:p>
          <a:p>
            <a:pPr>
              <a:buClr>
                <a:schemeClr val="tx1"/>
              </a:buClr>
              <a:buSzPct val="81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KPI -4 : </a:t>
            </a:r>
            <a:r>
              <a:rPr lang="en-IN" sz="1900" dirty="0">
                <a:latin typeface="Times New Roman" panose="02020603050405020304" pitchFamily="18" charset="0"/>
                <a:cs typeface="Times New Roman" panose="02020603050405020304" pitchFamily="18" charset="0"/>
              </a:rPr>
              <a:t>Average working years for each Department</a:t>
            </a:r>
            <a:endParaRPr lang="en-US" sz="1900" dirty="0">
              <a:latin typeface="Times New Roman" panose="02020603050405020304" pitchFamily="18" charset="0"/>
              <a:cs typeface="Times New Roman" panose="02020603050405020304" pitchFamily="18" charset="0"/>
            </a:endParaRPr>
          </a:p>
          <a:p>
            <a:pPr>
              <a:buClr>
                <a:schemeClr val="tx1"/>
              </a:buClr>
              <a:buSzPct val="81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KPI -5 : </a:t>
            </a:r>
            <a:r>
              <a:rPr lang="en-IN" sz="1900" dirty="0">
                <a:latin typeface="Times New Roman" panose="02020603050405020304" pitchFamily="18" charset="0"/>
                <a:cs typeface="Times New Roman" panose="02020603050405020304" pitchFamily="18" charset="0"/>
              </a:rPr>
              <a:t>Job Role Vs Work life balance</a:t>
            </a:r>
          </a:p>
          <a:p>
            <a:pPr>
              <a:buClr>
                <a:schemeClr val="tx1"/>
              </a:buClr>
              <a:buSzPct val="81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KPI -6 : </a:t>
            </a:r>
            <a:r>
              <a:rPr lang="en-IN" sz="1900" dirty="0">
                <a:latin typeface="Times New Roman" panose="02020603050405020304" pitchFamily="18" charset="0"/>
                <a:cs typeface="Times New Roman" panose="02020603050405020304" pitchFamily="18" charset="0"/>
              </a:rPr>
              <a:t>Attrition rate Vs Year since last promotion relation</a:t>
            </a:r>
            <a:endParaRPr lang="en-US" sz="1900" dirty="0">
              <a:latin typeface="Times New Roman" panose="02020603050405020304" pitchFamily="18" charset="0"/>
              <a:cs typeface="Times New Roman" panose="02020603050405020304" pitchFamily="18" charset="0"/>
            </a:endParaRPr>
          </a:p>
          <a:p>
            <a:pPr>
              <a:buClr>
                <a:schemeClr val="tx1"/>
              </a:buClr>
              <a:buSzPct val="81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Excel Dashboard</a:t>
            </a:r>
          </a:p>
          <a:p>
            <a:pPr>
              <a:buClr>
                <a:schemeClr val="tx1"/>
              </a:buClr>
              <a:buSzPct val="81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Tableau Dashboard</a:t>
            </a:r>
          </a:p>
          <a:p>
            <a:pPr>
              <a:buClr>
                <a:schemeClr val="tx1"/>
              </a:buClr>
              <a:buSzPct val="81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Power BI Dashboard</a:t>
            </a:r>
          </a:p>
          <a:p>
            <a:pPr>
              <a:buClr>
                <a:schemeClr val="tx1"/>
              </a:buClr>
              <a:buSzPct val="81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SQL</a:t>
            </a:r>
          </a:p>
          <a:p>
            <a:pPr>
              <a:buClr>
                <a:schemeClr val="tx1"/>
              </a:buClr>
              <a:buSzPct val="81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Suggestions</a:t>
            </a:r>
          </a:p>
          <a:p>
            <a:pPr>
              <a:buClr>
                <a:schemeClr val="tx1"/>
              </a:buClr>
              <a:buSzPct val="81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Conclusion</a:t>
            </a:r>
          </a:p>
          <a:p>
            <a:pPr>
              <a:buFont typeface="Arial" panose="020B0604020202020204" pitchFamily="34" charset="0"/>
              <a:buChar char="•"/>
            </a:pPr>
            <a:endParaRPr lang="en-IN" sz="600" dirty="0"/>
          </a:p>
        </p:txBody>
      </p:sp>
    </p:spTree>
    <p:extLst>
      <p:ext uri="{BB962C8B-B14F-4D97-AF65-F5344CB8AC3E}">
        <p14:creationId xmlns:p14="http://schemas.microsoft.com/office/powerpoint/2010/main" val="2409406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1C55D-08B4-42CF-A74D-4884047623B0}"/>
              </a:ext>
            </a:extLst>
          </p:cNvPr>
          <p:cNvSpPr>
            <a:spLocks noGrp="1"/>
          </p:cNvSpPr>
          <p:nvPr>
            <p:ph type="title"/>
          </p:nvPr>
        </p:nvSpPr>
        <p:spPr>
          <a:xfrm>
            <a:off x="2933940" y="461428"/>
            <a:ext cx="5287245" cy="583602"/>
          </a:xfrm>
          <a:solidFill>
            <a:schemeClr val="accent1">
              <a:alpha val="14000"/>
            </a:schemeClr>
          </a:solidFill>
          <a:ln>
            <a:noFill/>
          </a:ln>
          <a:effectLst/>
        </p:spPr>
        <p:txBody>
          <a:bodyPr vert="horz" lIns="91440" tIns="45720" rIns="91440" bIns="45720" rtlCol="0" anchor="b">
            <a:normAutofit/>
          </a:bodyPr>
          <a:lstStyle/>
          <a:p>
            <a:r>
              <a:rPr lang="en-US" sz="3200" b="1" dirty="0">
                <a:latin typeface="Times New Roman" panose="02020603050405020304" pitchFamily="18" charset="0"/>
                <a:cs typeface="Times New Roman" panose="02020603050405020304" pitchFamily="18" charset="0"/>
              </a:rPr>
              <a:t>INTRODUCTION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CABDEA-6BBD-4429-902F-E76B881605C2}"/>
              </a:ext>
            </a:extLst>
          </p:cNvPr>
          <p:cNvSpPr>
            <a:spLocks noGrp="1"/>
          </p:cNvSpPr>
          <p:nvPr>
            <p:ph idx="1"/>
          </p:nvPr>
        </p:nvSpPr>
        <p:spPr>
          <a:xfrm>
            <a:off x="1338803" y="1196503"/>
            <a:ext cx="10467703" cy="2928026"/>
          </a:xfrm>
        </p:spPr>
        <p:txBody>
          <a:bodyPr>
            <a:normAutofit/>
          </a:bodyPr>
          <a:lstStyle/>
          <a:p>
            <a:pPr>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HR analytics allows HR professionals to make informed decisions and create strategies that will benefit employees and support organizational goals. This has a significant impact on organizational performance, leadin</a:t>
            </a:r>
            <a:r>
              <a:rPr lang="en-US" sz="1800" dirty="0">
                <a:latin typeface="Times New Roman" panose="02020603050405020304" pitchFamily="18" charset="0"/>
                <a:cs typeface="Times New Roman" panose="02020603050405020304" pitchFamily="18" charset="0"/>
              </a:rPr>
              <a:t>g to </a:t>
            </a:r>
            <a:r>
              <a:rPr lang="en-US" sz="1800" b="0" i="0" dirty="0">
                <a:effectLst/>
                <a:latin typeface="Times New Roman" panose="02020603050405020304" pitchFamily="18" charset="0"/>
                <a:cs typeface="Times New Roman" panose="02020603050405020304" pitchFamily="18" charset="0"/>
              </a:rPr>
              <a:t>rise in business productivity, and decrease in attrition rates, and increase recruiting efficiency.</a:t>
            </a:r>
          </a:p>
          <a:p>
            <a:pPr>
              <a:buFont typeface="Wingdings" panose="05000000000000000000" pitchFamily="2" charset="2"/>
              <a:buChar char="v"/>
            </a:pPr>
            <a:endParaRPr lang="en-US" sz="1800" b="0" i="0" dirty="0">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It is the method of getting a better understanding of the people within an organization and how well the human resources team is performing. </a:t>
            </a:r>
          </a:p>
        </p:txBody>
      </p:sp>
    </p:spTree>
    <p:extLst>
      <p:ext uri="{BB962C8B-B14F-4D97-AF65-F5344CB8AC3E}">
        <p14:creationId xmlns:p14="http://schemas.microsoft.com/office/powerpoint/2010/main" val="2658709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5382A-E052-4EF8-8B08-C19708A037D7}"/>
              </a:ext>
            </a:extLst>
          </p:cNvPr>
          <p:cNvSpPr>
            <a:spLocks noGrp="1"/>
          </p:cNvSpPr>
          <p:nvPr>
            <p:ph type="title"/>
          </p:nvPr>
        </p:nvSpPr>
        <p:spPr>
          <a:xfrm>
            <a:off x="1384663" y="321014"/>
            <a:ext cx="8666171" cy="515566"/>
          </a:xfrm>
          <a:solidFill>
            <a:schemeClr val="accent1">
              <a:alpha val="14000"/>
            </a:schemeClr>
          </a:solidFill>
          <a:ln>
            <a:noFill/>
          </a:ln>
          <a:effectLst/>
        </p:spPr>
        <p:txBody>
          <a:bodyPr vert="horz" lIns="91440" tIns="45720" rIns="91440" bIns="45720" rtlCol="0" anchor="b">
            <a:normAutofit fontScale="90000"/>
          </a:bodyPr>
          <a:lstStyle/>
          <a:p>
            <a:r>
              <a:rPr lang="en-US" sz="3200" b="1" dirty="0">
                <a:latin typeface="Times New Roman" panose="02020603050405020304" pitchFamily="18" charset="0"/>
                <a:cs typeface="Times New Roman" panose="02020603050405020304" pitchFamily="18" charset="0"/>
              </a:rPr>
              <a:t>KPI - 1 : </a:t>
            </a:r>
            <a:r>
              <a:rPr lang="en-IN" sz="3200" b="1" dirty="0">
                <a:latin typeface="Times New Roman" panose="02020603050405020304" pitchFamily="18" charset="0"/>
                <a:cs typeface="Times New Roman" panose="02020603050405020304" pitchFamily="18" charset="0"/>
              </a:rPr>
              <a:t>Average Attrition rate for all Departments</a:t>
            </a:r>
          </a:p>
        </p:txBody>
      </p:sp>
      <p:sp>
        <p:nvSpPr>
          <p:cNvPr id="3" name="TextBox 2">
            <a:extLst>
              <a:ext uri="{FF2B5EF4-FFF2-40B4-BE49-F238E27FC236}">
                <a16:creationId xmlns:a16="http://schemas.microsoft.com/office/drawing/2014/main" id="{4A5507B2-8B61-4957-BF50-664F51D0306F}"/>
              </a:ext>
            </a:extLst>
          </p:cNvPr>
          <p:cNvSpPr txBox="1"/>
          <p:nvPr/>
        </p:nvSpPr>
        <p:spPr>
          <a:xfrm>
            <a:off x="1384663" y="1457241"/>
            <a:ext cx="6261463" cy="1754326"/>
          </a:xfrm>
          <a:prstGeom prst="rect">
            <a:avLst/>
          </a:prstGeom>
          <a:noFill/>
        </p:spPr>
        <p:txBody>
          <a:bodyPr wrap="square" rtlCol="0" anchor="ctr">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From all the departments, Attrition is higher in the Research department which is </a:t>
            </a:r>
            <a:r>
              <a:rPr lang="en-US" b="1" dirty="0">
                <a:solidFill>
                  <a:schemeClr val="accent4"/>
                </a:solidFill>
                <a:latin typeface="Times New Roman" panose="02020603050405020304" pitchFamily="18" charset="0"/>
                <a:cs typeface="Times New Roman" panose="02020603050405020304" pitchFamily="18" charset="0"/>
              </a:rPr>
              <a:t>51.21%</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Least Attrition: Hardware department which is </a:t>
            </a:r>
            <a:r>
              <a:rPr lang="en-US" b="1" dirty="0">
                <a:solidFill>
                  <a:schemeClr val="accent4"/>
                </a:solidFill>
                <a:latin typeface="Times New Roman" panose="02020603050405020304" pitchFamily="18" charset="0"/>
                <a:cs typeface="Times New Roman" panose="02020603050405020304" pitchFamily="18" charset="0"/>
              </a:rPr>
              <a:t>49.44%</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Higher </a:t>
            </a:r>
            <a:r>
              <a:rPr lang="en-US" b="1" dirty="0">
                <a:solidFill>
                  <a:schemeClr val="accent4"/>
                </a:solidFill>
                <a:latin typeface="Times New Roman" panose="02020603050405020304" pitchFamily="18" charset="0"/>
                <a:cs typeface="Times New Roman" panose="02020603050405020304" pitchFamily="18" charset="0"/>
              </a:rPr>
              <a:t>male </a:t>
            </a:r>
            <a:r>
              <a:rPr lang="en-US" dirty="0">
                <a:latin typeface="Times New Roman" panose="02020603050405020304" pitchFamily="18" charset="0"/>
                <a:cs typeface="Times New Roman" panose="02020603050405020304" pitchFamily="18" charset="0"/>
              </a:rPr>
              <a:t>attrition:  Software department </a:t>
            </a:r>
            <a:r>
              <a:rPr lang="en-US" b="1" dirty="0">
                <a:solidFill>
                  <a:schemeClr val="accent4"/>
                </a:solidFill>
                <a:latin typeface="Times New Roman" panose="02020603050405020304" pitchFamily="18" charset="0"/>
                <a:cs typeface="Times New Roman" panose="02020603050405020304" pitchFamily="18" charset="0"/>
              </a:rPr>
              <a:t>51.52%</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Higher </a:t>
            </a:r>
            <a:r>
              <a:rPr lang="en-US" b="1" dirty="0">
                <a:solidFill>
                  <a:schemeClr val="accent4"/>
                </a:solidFill>
                <a:latin typeface="Times New Roman" panose="02020603050405020304" pitchFamily="18" charset="0"/>
                <a:cs typeface="Times New Roman" panose="02020603050405020304" pitchFamily="18" charset="0"/>
              </a:rPr>
              <a:t>female </a:t>
            </a:r>
            <a:r>
              <a:rPr lang="en-US" dirty="0">
                <a:latin typeface="Times New Roman" panose="02020603050405020304" pitchFamily="18" charset="0"/>
                <a:cs typeface="Times New Roman" panose="02020603050405020304" pitchFamily="18" charset="0"/>
              </a:rPr>
              <a:t>attrition: Research department </a:t>
            </a:r>
            <a:r>
              <a:rPr lang="en-US" b="1" dirty="0">
                <a:solidFill>
                  <a:schemeClr val="accent4"/>
                </a:solidFill>
                <a:latin typeface="Times New Roman" panose="02020603050405020304" pitchFamily="18" charset="0"/>
                <a:cs typeface="Times New Roman" panose="02020603050405020304" pitchFamily="18" charset="0"/>
              </a:rPr>
              <a:t>51.72%</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Overall Attrition rate: 50.21%</a:t>
            </a:r>
          </a:p>
        </p:txBody>
      </p:sp>
    </p:spTree>
    <p:extLst>
      <p:ext uri="{BB962C8B-B14F-4D97-AF65-F5344CB8AC3E}">
        <p14:creationId xmlns:p14="http://schemas.microsoft.com/office/powerpoint/2010/main" val="476705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5382A-E052-4EF8-8B08-C19708A037D7}"/>
              </a:ext>
            </a:extLst>
          </p:cNvPr>
          <p:cNvSpPr>
            <a:spLocks noGrp="1"/>
          </p:cNvSpPr>
          <p:nvPr>
            <p:ph type="title"/>
          </p:nvPr>
        </p:nvSpPr>
        <p:spPr>
          <a:xfrm>
            <a:off x="1384663" y="452718"/>
            <a:ext cx="9403311" cy="617325"/>
          </a:xfrm>
          <a:solidFill>
            <a:schemeClr val="accent1">
              <a:alpha val="14000"/>
            </a:schemeClr>
          </a:solidFill>
          <a:ln>
            <a:noFill/>
          </a:ln>
          <a:effectLst/>
        </p:spPr>
        <p:txBody>
          <a:bodyPr vert="horz" lIns="91440" tIns="45720" rIns="91440" bIns="45720" rtlCol="0" anchor="b">
            <a:normAutofit/>
          </a:bodyPr>
          <a:lstStyle/>
          <a:p>
            <a:r>
              <a:rPr lang="en-US" sz="2800" b="1" dirty="0">
                <a:latin typeface="Times New Roman" panose="02020603050405020304" pitchFamily="18" charset="0"/>
                <a:cs typeface="Times New Roman" panose="02020603050405020304" pitchFamily="18" charset="0"/>
              </a:rPr>
              <a:t>KPI - 2 : </a:t>
            </a:r>
            <a:r>
              <a:rPr lang="en-IN" sz="2800" b="1" dirty="0">
                <a:latin typeface="Times New Roman" panose="02020603050405020304" pitchFamily="18" charset="0"/>
                <a:cs typeface="Times New Roman" panose="02020603050405020304" pitchFamily="18" charset="0"/>
              </a:rPr>
              <a:t>Average Hourly rate of Male Research Scientist</a:t>
            </a:r>
            <a:endParaRPr lang="en-US" sz="2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E32959-D0F7-41D0-9B04-803B530A53FD}"/>
              </a:ext>
            </a:extLst>
          </p:cNvPr>
          <p:cNvSpPr txBox="1"/>
          <p:nvPr/>
        </p:nvSpPr>
        <p:spPr>
          <a:xfrm>
            <a:off x="2763747" y="4974216"/>
            <a:ext cx="8464732" cy="369332"/>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male research scientist earns about an average of </a:t>
            </a:r>
            <a:r>
              <a:rPr lang="en-US" dirty="0">
                <a:solidFill>
                  <a:schemeClr val="accent4"/>
                </a:solidFill>
                <a:latin typeface="Times New Roman" panose="02020603050405020304" pitchFamily="18" charset="0"/>
                <a:cs typeface="Times New Roman" panose="02020603050405020304" pitchFamily="18" charset="0"/>
              </a:rPr>
              <a:t>$114 </a:t>
            </a:r>
            <a:r>
              <a:rPr lang="en-US" dirty="0">
                <a:latin typeface="Times New Roman" panose="02020603050405020304" pitchFamily="18" charset="0"/>
                <a:cs typeface="Times New Roman" panose="02020603050405020304" pitchFamily="18" charset="0"/>
              </a:rPr>
              <a:t>per hour.</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7381F332-754A-C72C-D059-4DA18CB0BC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5957" y="1316934"/>
            <a:ext cx="2446232" cy="3345470"/>
          </a:xfrm>
          <a:prstGeom prst="rect">
            <a:avLst/>
          </a:prstGeom>
        </p:spPr>
      </p:pic>
    </p:spTree>
    <p:extLst>
      <p:ext uri="{BB962C8B-B14F-4D97-AF65-F5344CB8AC3E}">
        <p14:creationId xmlns:p14="http://schemas.microsoft.com/office/powerpoint/2010/main" val="3446762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5382A-E052-4EF8-8B08-C19708A037D7}"/>
              </a:ext>
            </a:extLst>
          </p:cNvPr>
          <p:cNvSpPr>
            <a:spLocks noGrp="1"/>
          </p:cNvSpPr>
          <p:nvPr>
            <p:ph type="title"/>
          </p:nvPr>
        </p:nvSpPr>
        <p:spPr>
          <a:xfrm>
            <a:off x="1384663" y="452718"/>
            <a:ext cx="8666171" cy="522642"/>
          </a:xfrm>
          <a:solidFill>
            <a:schemeClr val="accent1">
              <a:alpha val="14000"/>
            </a:schemeClr>
          </a:solidFill>
          <a:ln>
            <a:noFill/>
          </a:ln>
          <a:effectLst/>
        </p:spPr>
        <p:txBody>
          <a:bodyPr vert="horz" lIns="91440" tIns="45720" rIns="91440" bIns="45720" rtlCol="0" anchor="b">
            <a:normAutofit fontScale="90000"/>
          </a:bodyPr>
          <a:lstStyle/>
          <a:p>
            <a:r>
              <a:rPr lang="en-US" sz="3200" b="1" dirty="0">
                <a:latin typeface="Times New Roman" panose="02020603050405020304" pitchFamily="18" charset="0"/>
                <a:cs typeface="Times New Roman" panose="02020603050405020304" pitchFamily="18" charset="0"/>
              </a:rPr>
              <a:t>KPI - 3 : </a:t>
            </a:r>
            <a:r>
              <a:rPr lang="en-IN" sz="3200" b="1" dirty="0">
                <a:latin typeface="Times New Roman" panose="02020603050405020304" pitchFamily="18" charset="0"/>
                <a:cs typeface="Times New Roman" panose="02020603050405020304" pitchFamily="18" charset="0"/>
              </a:rPr>
              <a:t>Attrition rate Vs Monthly income stats</a:t>
            </a:r>
            <a:endParaRPr lang="en-US" sz="32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448B66E-93FA-4D85-B3F1-261CA8064305}"/>
              </a:ext>
            </a:extLst>
          </p:cNvPr>
          <p:cNvSpPr txBox="1"/>
          <p:nvPr/>
        </p:nvSpPr>
        <p:spPr>
          <a:xfrm>
            <a:off x="1384663" y="1674176"/>
            <a:ext cx="9228214" cy="1754326"/>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Higher Attrition rate of </a:t>
            </a:r>
            <a:r>
              <a:rPr lang="en-US" dirty="0">
                <a:solidFill>
                  <a:schemeClr val="accent4"/>
                </a:solidFill>
                <a:latin typeface="Times New Roman" panose="02020603050405020304" pitchFamily="18" charset="0"/>
                <a:cs typeface="Times New Roman" panose="02020603050405020304" pitchFamily="18" charset="0"/>
              </a:rPr>
              <a:t>17.39% </a:t>
            </a:r>
            <a:r>
              <a:rPr lang="en-US" dirty="0">
                <a:latin typeface="Times New Roman" panose="02020603050405020304" pitchFamily="18" charset="0"/>
                <a:cs typeface="Times New Roman" panose="02020603050405020304" pitchFamily="18" charset="0"/>
              </a:rPr>
              <a:t>between monthly income 42.5K to 50K,And </a:t>
            </a:r>
            <a:r>
              <a:rPr lang="en-US" dirty="0">
                <a:solidFill>
                  <a:schemeClr val="accent4"/>
                </a:solidFill>
                <a:latin typeface="Times New Roman" panose="02020603050405020304" pitchFamily="18" charset="0"/>
                <a:cs typeface="Times New Roman" panose="02020603050405020304" pitchFamily="18" charset="0"/>
              </a:rPr>
              <a:t>17.05% </a:t>
            </a:r>
            <a:r>
              <a:rPr lang="en-US" dirty="0">
                <a:latin typeface="Times New Roman" panose="02020603050405020304" pitchFamily="18" charset="0"/>
                <a:cs typeface="Times New Roman" panose="02020603050405020304" pitchFamily="18" charset="0"/>
              </a:rPr>
              <a:t>between income 17K to 25.5K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Lower attrition rate of </a:t>
            </a:r>
            <a:r>
              <a:rPr lang="en-US" dirty="0">
                <a:solidFill>
                  <a:schemeClr val="accent4"/>
                </a:solidFill>
                <a:latin typeface="Times New Roman" panose="02020603050405020304" pitchFamily="18" charset="0"/>
                <a:cs typeface="Times New Roman" panose="02020603050405020304" pitchFamily="18" charset="0"/>
              </a:rPr>
              <a:t>14.95% </a:t>
            </a:r>
            <a:r>
              <a:rPr lang="en-US" dirty="0">
                <a:latin typeface="Times New Roman" panose="02020603050405020304" pitchFamily="18" charset="0"/>
                <a:cs typeface="Times New Roman" panose="02020603050405020304" pitchFamily="18" charset="0"/>
              </a:rPr>
              <a:t>for monthly income lower than 10K</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Total Attritions : </a:t>
            </a:r>
            <a:r>
              <a:rPr lang="en-IN" dirty="0">
                <a:solidFill>
                  <a:schemeClr val="accent4"/>
                </a:solidFill>
                <a:latin typeface="Times New Roman" panose="02020603050405020304" pitchFamily="18" charset="0"/>
                <a:cs typeface="Times New Roman" panose="02020603050405020304" pitchFamily="18" charset="0"/>
              </a:rPr>
              <a:t>25105</a:t>
            </a:r>
          </a:p>
        </p:txBody>
      </p:sp>
    </p:spTree>
    <p:extLst>
      <p:ext uri="{BB962C8B-B14F-4D97-AF65-F5344CB8AC3E}">
        <p14:creationId xmlns:p14="http://schemas.microsoft.com/office/powerpoint/2010/main" val="975308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5382A-E052-4EF8-8B08-C19708A037D7}"/>
              </a:ext>
            </a:extLst>
          </p:cNvPr>
          <p:cNvSpPr>
            <a:spLocks noGrp="1"/>
          </p:cNvSpPr>
          <p:nvPr>
            <p:ph type="title"/>
          </p:nvPr>
        </p:nvSpPr>
        <p:spPr>
          <a:xfrm>
            <a:off x="1762914" y="478843"/>
            <a:ext cx="9209886" cy="522642"/>
          </a:xfrm>
          <a:solidFill>
            <a:schemeClr val="accent1">
              <a:alpha val="14000"/>
            </a:schemeClr>
          </a:solidFill>
          <a:ln>
            <a:noFill/>
          </a:ln>
          <a:effectLst/>
        </p:spPr>
        <p:txBody>
          <a:bodyPr vert="horz" lIns="91440" tIns="45720" rIns="91440" bIns="45720" rtlCol="0" anchor="b">
            <a:normAutofit fontScale="90000"/>
          </a:bodyPr>
          <a:lstStyle/>
          <a:p>
            <a:r>
              <a:rPr lang="en-US" sz="3200" b="1" dirty="0">
                <a:latin typeface="Times New Roman" panose="02020603050405020304" pitchFamily="18" charset="0"/>
                <a:cs typeface="Times New Roman" panose="02020603050405020304" pitchFamily="18" charset="0"/>
              </a:rPr>
              <a:t>KPI - 4 : </a:t>
            </a:r>
            <a:r>
              <a:rPr lang="en-IN" sz="3200" b="1" dirty="0">
                <a:latin typeface="Times New Roman" panose="02020603050405020304" pitchFamily="18" charset="0"/>
                <a:cs typeface="Times New Roman" panose="02020603050405020304" pitchFamily="18" charset="0"/>
              </a:rPr>
              <a:t>Average working years for each Department</a:t>
            </a:r>
            <a:endParaRPr lang="en-US"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A847B8B-250A-4274-B024-B864B44C6C06}"/>
              </a:ext>
            </a:extLst>
          </p:cNvPr>
          <p:cNvSpPr txBox="1"/>
          <p:nvPr/>
        </p:nvSpPr>
        <p:spPr>
          <a:xfrm>
            <a:off x="1762914" y="1517884"/>
            <a:ext cx="5318822" cy="369332"/>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Higher average of working years for departments</a:t>
            </a:r>
          </a:p>
        </p:txBody>
      </p:sp>
      <p:sp>
        <p:nvSpPr>
          <p:cNvPr id="6" name="TextBox 5">
            <a:extLst>
              <a:ext uri="{FF2B5EF4-FFF2-40B4-BE49-F238E27FC236}">
                <a16:creationId xmlns:a16="http://schemas.microsoft.com/office/drawing/2014/main" id="{917313E5-8265-4932-9DDA-5A9549482A95}"/>
              </a:ext>
            </a:extLst>
          </p:cNvPr>
          <p:cNvSpPr txBox="1"/>
          <p:nvPr/>
        </p:nvSpPr>
        <p:spPr>
          <a:xfrm>
            <a:off x="1870010" y="1959516"/>
            <a:ext cx="4129687"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Hardware </a:t>
            </a:r>
            <a:r>
              <a:rPr lang="en-US" dirty="0">
                <a:solidFill>
                  <a:schemeClr val="accent4"/>
                </a:solidFill>
                <a:latin typeface="Times New Roman" panose="02020603050405020304" pitchFamily="18" charset="0"/>
                <a:cs typeface="Times New Roman" panose="02020603050405020304" pitchFamily="18" charset="0"/>
              </a:rPr>
              <a:t>6.01 </a:t>
            </a:r>
            <a:r>
              <a:rPr lang="en-US" dirty="0">
                <a:latin typeface="Times New Roman" panose="02020603050405020304" pitchFamily="18" charset="0"/>
                <a:cs typeface="Times New Roman" panose="02020603050405020304" pitchFamily="18" charset="0"/>
              </a:rPr>
              <a:t>years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Research &amp; development </a:t>
            </a:r>
            <a:r>
              <a:rPr lang="en-US" dirty="0">
                <a:solidFill>
                  <a:schemeClr val="accent4"/>
                </a:solidFill>
                <a:latin typeface="Times New Roman" panose="02020603050405020304" pitchFamily="18" charset="0"/>
                <a:cs typeface="Times New Roman" panose="02020603050405020304" pitchFamily="18" charset="0"/>
              </a:rPr>
              <a:t>5.91 </a:t>
            </a:r>
            <a:r>
              <a:rPr lang="en-US" dirty="0">
                <a:latin typeface="Times New Roman" panose="02020603050405020304" pitchFamily="18" charset="0"/>
                <a:cs typeface="Times New Roman" panose="02020603050405020304" pitchFamily="18" charset="0"/>
              </a:rPr>
              <a:t>years </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71AB9E0-B4DC-40B5-A88E-8583A5F9027F}"/>
              </a:ext>
            </a:extLst>
          </p:cNvPr>
          <p:cNvSpPr txBox="1"/>
          <p:nvPr/>
        </p:nvSpPr>
        <p:spPr>
          <a:xfrm>
            <a:off x="1762914" y="2730405"/>
            <a:ext cx="7001707" cy="369332"/>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Lesser average of working years for sales Departments </a:t>
            </a:r>
            <a:r>
              <a:rPr lang="en-US" dirty="0">
                <a:solidFill>
                  <a:schemeClr val="accent4"/>
                </a:solidFill>
                <a:latin typeface="Times New Roman" panose="02020603050405020304" pitchFamily="18" charset="0"/>
                <a:cs typeface="Times New Roman" panose="02020603050405020304" pitchFamily="18" charset="0"/>
              </a:rPr>
              <a:t>5.84 </a:t>
            </a:r>
            <a:r>
              <a:rPr lang="en-US" dirty="0">
                <a:latin typeface="Times New Roman" panose="02020603050405020304" pitchFamily="18" charset="0"/>
                <a:cs typeface="Times New Roman" panose="02020603050405020304" pitchFamily="18" charset="0"/>
              </a:rPr>
              <a:t>years</a:t>
            </a:r>
          </a:p>
        </p:txBody>
      </p:sp>
      <p:sp>
        <p:nvSpPr>
          <p:cNvPr id="11" name="TextBox 10">
            <a:extLst>
              <a:ext uri="{FF2B5EF4-FFF2-40B4-BE49-F238E27FC236}">
                <a16:creationId xmlns:a16="http://schemas.microsoft.com/office/drawing/2014/main" id="{477351DB-D9BF-4477-A559-AAB772F64DE8}"/>
              </a:ext>
            </a:extLst>
          </p:cNvPr>
          <p:cNvSpPr txBox="1"/>
          <p:nvPr/>
        </p:nvSpPr>
        <p:spPr>
          <a:xfrm>
            <a:off x="1762914" y="3221773"/>
            <a:ext cx="7517273"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All departments are having low average of working years except hardware and research &amp; development.</a:t>
            </a:r>
          </a:p>
        </p:txBody>
      </p:sp>
    </p:spTree>
    <p:extLst>
      <p:ext uri="{BB962C8B-B14F-4D97-AF65-F5344CB8AC3E}">
        <p14:creationId xmlns:p14="http://schemas.microsoft.com/office/powerpoint/2010/main" val="2102886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5382A-E052-4EF8-8B08-C19708A037D7}"/>
              </a:ext>
            </a:extLst>
          </p:cNvPr>
          <p:cNvSpPr>
            <a:spLocks noGrp="1"/>
          </p:cNvSpPr>
          <p:nvPr>
            <p:ph type="title"/>
          </p:nvPr>
        </p:nvSpPr>
        <p:spPr>
          <a:xfrm>
            <a:off x="1079291" y="269838"/>
            <a:ext cx="8666171" cy="522642"/>
          </a:xfrm>
          <a:solidFill>
            <a:schemeClr val="accent1">
              <a:alpha val="14000"/>
            </a:schemeClr>
          </a:solidFill>
          <a:ln>
            <a:noFill/>
          </a:ln>
          <a:effectLst/>
        </p:spPr>
        <p:txBody>
          <a:bodyPr vert="horz" lIns="91440" tIns="45720" rIns="91440" bIns="45720" rtlCol="0" anchor="b">
            <a:normAutofit fontScale="90000"/>
          </a:bodyPr>
          <a:lstStyle/>
          <a:p>
            <a:r>
              <a:rPr lang="en-US" sz="3200" b="1" dirty="0">
                <a:latin typeface="Times New Roman" panose="02020603050405020304" pitchFamily="18" charset="0"/>
                <a:cs typeface="Times New Roman" panose="02020603050405020304" pitchFamily="18" charset="0"/>
              </a:rPr>
              <a:t>KPI - 5 : </a:t>
            </a:r>
            <a:r>
              <a:rPr lang="en-IN" sz="3200" b="1" dirty="0">
                <a:latin typeface="Times New Roman" panose="02020603050405020304" pitchFamily="18" charset="0"/>
                <a:cs typeface="Times New Roman" panose="02020603050405020304" pitchFamily="18" charset="0"/>
              </a:rPr>
              <a:t>Job Role Vs Work life balance</a:t>
            </a:r>
          </a:p>
        </p:txBody>
      </p:sp>
      <p:sp>
        <p:nvSpPr>
          <p:cNvPr id="3" name="TextBox 2">
            <a:extLst>
              <a:ext uri="{FF2B5EF4-FFF2-40B4-BE49-F238E27FC236}">
                <a16:creationId xmlns:a16="http://schemas.microsoft.com/office/drawing/2014/main" id="{D10D11B4-4943-4528-BAB0-7A9766DD0857}"/>
              </a:ext>
            </a:extLst>
          </p:cNvPr>
          <p:cNvSpPr txBox="1"/>
          <p:nvPr/>
        </p:nvSpPr>
        <p:spPr>
          <a:xfrm>
            <a:off x="1388510" y="1189152"/>
            <a:ext cx="5974080" cy="369332"/>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Healthy Work life balance for job roles </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86A71FE-1CD1-455E-997C-838837E12FEE}"/>
              </a:ext>
            </a:extLst>
          </p:cNvPr>
          <p:cNvSpPr txBox="1"/>
          <p:nvPr/>
        </p:nvSpPr>
        <p:spPr>
          <a:xfrm>
            <a:off x="1388511" y="1738592"/>
            <a:ext cx="3570512"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Healthcare representative </a:t>
            </a:r>
            <a:r>
              <a:rPr lang="en-US" dirty="0">
                <a:solidFill>
                  <a:schemeClr val="accent4"/>
                </a:solidFill>
                <a:latin typeface="Times New Roman" panose="02020603050405020304" pitchFamily="18" charset="0"/>
                <a:cs typeface="Times New Roman" panose="02020603050405020304" pitchFamily="18" charset="0"/>
              </a:rPr>
              <a:t>10.12%</a:t>
            </a:r>
            <a:r>
              <a:rPr lang="en-US" dirty="0">
                <a:latin typeface="Times New Roman" panose="02020603050405020304" pitchFamily="18" charset="0"/>
                <a:cs typeface="Times New Roman" panose="02020603050405020304" pitchFamily="18" charset="0"/>
              </a:rPr>
              <a:t>     </a:t>
            </a:r>
            <a:endParaRPr lang="en-US" dirty="0">
              <a:solidFill>
                <a:srgbClr val="FFFF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Research Scientist </a:t>
            </a:r>
            <a:r>
              <a:rPr lang="en-US" dirty="0">
                <a:solidFill>
                  <a:schemeClr val="accent4"/>
                </a:solidFill>
                <a:latin typeface="Times New Roman" panose="02020603050405020304" pitchFamily="18" charset="0"/>
                <a:cs typeface="Times New Roman" panose="02020603050405020304" pitchFamily="18" charset="0"/>
              </a:rPr>
              <a:t>10.11%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Manager </a:t>
            </a:r>
            <a:r>
              <a:rPr lang="en-US" dirty="0">
                <a:solidFill>
                  <a:schemeClr val="accent4"/>
                </a:solidFill>
                <a:latin typeface="Times New Roman" panose="02020603050405020304" pitchFamily="18" charset="0"/>
                <a:cs typeface="Times New Roman" panose="02020603050405020304" pitchFamily="18" charset="0"/>
              </a:rPr>
              <a:t>10.06%                                 </a:t>
            </a:r>
          </a:p>
        </p:txBody>
      </p:sp>
      <p:sp>
        <p:nvSpPr>
          <p:cNvPr id="6" name="TextBox 5">
            <a:extLst>
              <a:ext uri="{FF2B5EF4-FFF2-40B4-BE49-F238E27FC236}">
                <a16:creationId xmlns:a16="http://schemas.microsoft.com/office/drawing/2014/main" id="{8D72F85A-BD5F-4933-B205-D0EB5C4CA962}"/>
              </a:ext>
            </a:extLst>
          </p:cNvPr>
          <p:cNvSpPr txBox="1"/>
          <p:nvPr/>
        </p:nvSpPr>
        <p:spPr>
          <a:xfrm>
            <a:off x="6096000" y="1701141"/>
            <a:ext cx="3091543"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Developer </a:t>
            </a:r>
            <a:r>
              <a:rPr lang="en-US" dirty="0">
                <a:solidFill>
                  <a:schemeClr val="accent4"/>
                </a:solidFill>
                <a:latin typeface="Times New Roman" panose="02020603050405020304" pitchFamily="18" charset="0"/>
                <a:cs typeface="Times New Roman" panose="02020603050405020304" pitchFamily="18" charset="0"/>
              </a:rPr>
              <a:t>10.02%</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Sales representative </a:t>
            </a:r>
            <a:r>
              <a:rPr lang="en-US" dirty="0">
                <a:solidFill>
                  <a:schemeClr val="accent4"/>
                </a:solidFill>
                <a:latin typeface="Times New Roman" panose="02020603050405020304" pitchFamily="18" charset="0"/>
                <a:cs typeface="Times New Roman" panose="02020603050405020304" pitchFamily="18" charset="0"/>
              </a:rPr>
              <a:t>10.04%</a:t>
            </a:r>
            <a:r>
              <a:rPr lang="en-US"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research director </a:t>
            </a:r>
            <a:r>
              <a:rPr lang="en-US" dirty="0">
                <a:solidFill>
                  <a:schemeClr val="accent4"/>
                </a:solidFill>
                <a:latin typeface="Times New Roman" panose="02020603050405020304" pitchFamily="18" charset="0"/>
                <a:cs typeface="Times New Roman" panose="02020603050405020304" pitchFamily="18" charset="0"/>
              </a:rPr>
              <a:t>10.03%</a:t>
            </a:r>
          </a:p>
        </p:txBody>
      </p:sp>
      <p:sp>
        <p:nvSpPr>
          <p:cNvPr id="8" name="TextBox 7">
            <a:extLst>
              <a:ext uri="{FF2B5EF4-FFF2-40B4-BE49-F238E27FC236}">
                <a16:creationId xmlns:a16="http://schemas.microsoft.com/office/drawing/2014/main" id="{3AE0F6BB-CE28-4A01-A7DD-B1C2EC4CC679}"/>
              </a:ext>
            </a:extLst>
          </p:cNvPr>
          <p:cNvSpPr txBox="1"/>
          <p:nvPr/>
        </p:nvSpPr>
        <p:spPr>
          <a:xfrm>
            <a:off x="1423671" y="3049941"/>
            <a:ext cx="6096000" cy="369332"/>
          </a:xfrm>
          <a:prstGeom prst="rect">
            <a:avLst/>
          </a:prstGeom>
          <a:noFill/>
        </p:spPr>
        <p:txBody>
          <a:bodyPr wrap="square">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Weak Work life balance for job roles </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AF9778D-CB04-4F90-88FD-3AD5BB8EDB52}"/>
              </a:ext>
            </a:extLst>
          </p:cNvPr>
          <p:cNvSpPr txBox="1"/>
          <p:nvPr/>
        </p:nvSpPr>
        <p:spPr>
          <a:xfrm>
            <a:off x="1388510" y="3533134"/>
            <a:ext cx="3230881"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Human Resource </a:t>
            </a:r>
            <a:r>
              <a:rPr lang="en-US" dirty="0">
                <a:solidFill>
                  <a:schemeClr val="accent4"/>
                </a:solidFill>
                <a:latin typeface="Times New Roman" panose="02020603050405020304" pitchFamily="18" charset="0"/>
                <a:cs typeface="Times New Roman" panose="02020603050405020304" pitchFamily="18" charset="0"/>
              </a:rPr>
              <a:t>9.88%</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Laboratory technician </a:t>
            </a:r>
            <a:r>
              <a:rPr lang="en-US" dirty="0">
                <a:solidFill>
                  <a:schemeClr val="accent4"/>
                </a:solidFill>
                <a:latin typeface="Times New Roman" panose="02020603050405020304" pitchFamily="18" charset="0"/>
                <a:cs typeface="Times New Roman" panose="02020603050405020304" pitchFamily="18" charset="0"/>
              </a:rPr>
              <a:t>9.70%</a:t>
            </a:r>
            <a:endParaRPr lang="en-IN" dirty="0">
              <a:solidFill>
                <a:schemeClr val="accent4"/>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E63BD7A-34DC-4239-9D9D-86B2E7A7C110}"/>
              </a:ext>
            </a:extLst>
          </p:cNvPr>
          <p:cNvSpPr txBox="1"/>
          <p:nvPr/>
        </p:nvSpPr>
        <p:spPr>
          <a:xfrm>
            <a:off x="6096000" y="3533134"/>
            <a:ext cx="3369889"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Manufacturing director </a:t>
            </a:r>
            <a:r>
              <a:rPr lang="en-US" dirty="0">
                <a:solidFill>
                  <a:schemeClr val="accent4"/>
                </a:solidFill>
                <a:latin typeface="Times New Roman" panose="02020603050405020304" pitchFamily="18" charset="0"/>
                <a:cs typeface="Times New Roman" panose="02020603050405020304" pitchFamily="18" charset="0"/>
              </a:rPr>
              <a:t>9.96%</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Sales executive </a:t>
            </a:r>
            <a:r>
              <a:rPr lang="en-US" dirty="0">
                <a:solidFill>
                  <a:schemeClr val="accent4"/>
                </a:solidFill>
                <a:latin typeface="Times New Roman" panose="02020603050405020304" pitchFamily="18" charset="0"/>
                <a:cs typeface="Times New Roman" panose="02020603050405020304" pitchFamily="18" charset="0"/>
              </a:rPr>
              <a:t>9.99%</a:t>
            </a:r>
          </a:p>
        </p:txBody>
      </p:sp>
    </p:spTree>
    <p:extLst>
      <p:ext uri="{BB962C8B-B14F-4D97-AF65-F5344CB8AC3E}">
        <p14:creationId xmlns:p14="http://schemas.microsoft.com/office/powerpoint/2010/main" val="1965259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5382A-E052-4EF8-8B08-C19708A037D7}"/>
              </a:ext>
            </a:extLst>
          </p:cNvPr>
          <p:cNvSpPr>
            <a:spLocks noGrp="1"/>
          </p:cNvSpPr>
          <p:nvPr>
            <p:ph type="title"/>
          </p:nvPr>
        </p:nvSpPr>
        <p:spPr>
          <a:xfrm>
            <a:off x="1384663" y="452718"/>
            <a:ext cx="9899636" cy="522642"/>
          </a:xfrm>
          <a:solidFill>
            <a:schemeClr val="accent1">
              <a:alpha val="14000"/>
            </a:schemeClr>
          </a:solidFill>
          <a:ln>
            <a:noFill/>
          </a:ln>
          <a:effectLst/>
        </p:spPr>
        <p:txBody>
          <a:bodyPr vert="horz" lIns="91440" tIns="45720" rIns="91440" bIns="45720" rtlCol="0" anchor="b">
            <a:normAutofit fontScale="90000"/>
          </a:bodyPr>
          <a:lstStyle/>
          <a:p>
            <a:r>
              <a:rPr lang="en-US" sz="3200" b="1" dirty="0">
                <a:latin typeface="Times New Roman" panose="02020603050405020304" pitchFamily="18" charset="0"/>
                <a:cs typeface="Times New Roman" panose="02020603050405020304" pitchFamily="18" charset="0"/>
              </a:rPr>
              <a:t>KPI - 6 : </a:t>
            </a:r>
            <a:r>
              <a:rPr lang="en-IN" sz="3200" b="1" dirty="0">
                <a:latin typeface="Times New Roman" panose="02020603050405020304" pitchFamily="18" charset="0"/>
                <a:cs typeface="Times New Roman" panose="02020603050405020304" pitchFamily="18" charset="0"/>
              </a:rPr>
              <a:t>Attrition rate Vs Year since last promotion relation</a:t>
            </a:r>
            <a:endParaRPr lang="en-US"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B2E9E9C-A29F-46D0-9B1E-D9424EF3F0E5}"/>
              </a:ext>
            </a:extLst>
          </p:cNvPr>
          <p:cNvSpPr txBox="1"/>
          <p:nvPr/>
        </p:nvSpPr>
        <p:spPr>
          <a:xfrm>
            <a:off x="1386757" y="1441257"/>
            <a:ext cx="4347468" cy="646331"/>
          </a:xfrm>
          <a:prstGeom prst="rect">
            <a:avLst/>
          </a:prstGeom>
          <a:noFill/>
        </p:spPr>
        <p:txBody>
          <a:bodyPr wrap="square" rtlCol="0">
            <a:spAutoFit/>
          </a:bodyPr>
          <a:lstStyle/>
          <a:p>
            <a:pPr marL="342900" indent="-3429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Job roles with Higher attrition for high average values of last promotion </a:t>
            </a:r>
            <a:endParaRPr lang="en-IN" dirty="0">
              <a:latin typeface="Times New Roman" panose="02020603050405020304" pitchFamily="18" charset="0"/>
              <a:cs typeface="Times New Roman" panose="02020603050405020304" pitchFamily="18" charset="0"/>
            </a:endParaRPr>
          </a:p>
        </p:txBody>
      </p:sp>
      <p:graphicFrame>
        <p:nvGraphicFramePr>
          <p:cNvPr id="6" name="Table 6">
            <a:extLst>
              <a:ext uri="{FF2B5EF4-FFF2-40B4-BE49-F238E27FC236}">
                <a16:creationId xmlns:a16="http://schemas.microsoft.com/office/drawing/2014/main" id="{77D5495F-891E-4BB7-ACB8-2496EA3666D8}"/>
              </a:ext>
            </a:extLst>
          </p:cNvPr>
          <p:cNvGraphicFramePr>
            <a:graphicFrameLocks noGrp="1"/>
          </p:cNvGraphicFramePr>
          <p:nvPr>
            <p:extLst>
              <p:ext uri="{D42A27DB-BD31-4B8C-83A1-F6EECF244321}">
                <p14:modId xmlns:p14="http://schemas.microsoft.com/office/powerpoint/2010/main" val="868318352"/>
              </p:ext>
            </p:extLst>
          </p:nvPr>
        </p:nvGraphicFramePr>
        <p:xfrm>
          <a:off x="6196707" y="1441257"/>
          <a:ext cx="4815004" cy="1171902"/>
        </p:xfrm>
        <a:graphic>
          <a:graphicData uri="http://schemas.openxmlformats.org/drawingml/2006/table">
            <a:tbl>
              <a:tblPr firstRow="1" bandRow="1">
                <a:tableStyleId>{5C22544A-7EE6-4342-B048-85BDC9FD1C3A}</a:tableStyleId>
              </a:tblPr>
              <a:tblGrid>
                <a:gridCol w="2016038">
                  <a:extLst>
                    <a:ext uri="{9D8B030D-6E8A-4147-A177-3AD203B41FA5}">
                      <a16:colId xmlns:a16="http://schemas.microsoft.com/office/drawing/2014/main" val="2122305181"/>
                    </a:ext>
                  </a:extLst>
                </a:gridCol>
                <a:gridCol w="1732228">
                  <a:extLst>
                    <a:ext uri="{9D8B030D-6E8A-4147-A177-3AD203B41FA5}">
                      <a16:colId xmlns:a16="http://schemas.microsoft.com/office/drawing/2014/main" val="2312927758"/>
                    </a:ext>
                  </a:extLst>
                </a:gridCol>
                <a:gridCol w="1066738">
                  <a:extLst>
                    <a:ext uri="{9D8B030D-6E8A-4147-A177-3AD203B41FA5}">
                      <a16:colId xmlns:a16="http://schemas.microsoft.com/office/drawing/2014/main" val="2529560297"/>
                    </a:ext>
                  </a:extLst>
                </a:gridCol>
              </a:tblGrid>
              <a:tr h="361298">
                <a:tc>
                  <a:txBody>
                    <a:bodyPr/>
                    <a:lstStyle/>
                    <a:p>
                      <a:pPr algn="ctr"/>
                      <a:r>
                        <a:rPr lang="en-US" sz="1200" dirty="0"/>
                        <a:t>Job role</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t>Average </a:t>
                      </a:r>
                      <a:r>
                        <a:rPr lang="en-US" sz="1200" dirty="0" err="1"/>
                        <a:t>Yrs</a:t>
                      </a:r>
                      <a:r>
                        <a:rPr lang="en-US" sz="1200" dirty="0"/>
                        <a:t> since last promotion</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t>Attrition</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54965775"/>
                  </a:ext>
                </a:extLst>
              </a:tr>
              <a:tr h="357351">
                <a:tc>
                  <a:txBody>
                    <a:bodyPr/>
                    <a:lstStyle/>
                    <a:p>
                      <a:pPr algn="ctr"/>
                      <a:r>
                        <a:rPr lang="en-US" sz="1200" dirty="0"/>
                        <a:t>Manager</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t>6.0</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t>50.42%</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8058782"/>
                  </a:ext>
                </a:extLst>
              </a:tr>
              <a:tr h="357351">
                <a:tc>
                  <a:txBody>
                    <a:bodyPr/>
                    <a:lstStyle/>
                    <a:p>
                      <a:pPr algn="ctr"/>
                      <a:r>
                        <a:rPr lang="en-US" sz="1200" dirty="0"/>
                        <a:t>Sales Representative</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t>6.0</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t>50.43%</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259989"/>
                  </a:ext>
                </a:extLst>
              </a:tr>
            </a:tbl>
          </a:graphicData>
        </a:graphic>
      </p:graphicFrame>
      <p:sp>
        <p:nvSpPr>
          <p:cNvPr id="8" name="TextBox 7">
            <a:extLst>
              <a:ext uri="{FF2B5EF4-FFF2-40B4-BE49-F238E27FC236}">
                <a16:creationId xmlns:a16="http://schemas.microsoft.com/office/drawing/2014/main" id="{847EFA9E-3634-47CC-AE45-828B393188DB}"/>
              </a:ext>
            </a:extLst>
          </p:cNvPr>
          <p:cNvSpPr txBox="1"/>
          <p:nvPr/>
        </p:nvSpPr>
        <p:spPr>
          <a:xfrm>
            <a:off x="1384663" y="3262921"/>
            <a:ext cx="4349562" cy="646331"/>
          </a:xfrm>
          <a:prstGeom prst="rect">
            <a:avLst/>
          </a:prstGeom>
          <a:noFill/>
        </p:spPr>
        <p:txBody>
          <a:bodyPr wrap="square">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Job roles with lower attrition for low average values of last promotion </a:t>
            </a:r>
            <a:endParaRPr lang="en-IN" dirty="0">
              <a:latin typeface="Times New Roman" panose="02020603050405020304" pitchFamily="18" charset="0"/>
              <a:cs typeface="Times New Roman" panose="02020603050405020304" pitchFamily="18" charset="0"/>
            </a:endParaRPr>
          </a:p>
        </p:txBody>
      </p:sp>
      <p:graphicFrame>
        <p:nvGraphicFramePr>
          <p:cNvPr id="9" name="Table 6">
            <a:extLst>
              <a:ext uri="{FF2B5EF4-FFF2-40B4-BE49-F238E27FC236}">
                <a16:creationId xmlns:a16="http://schemas.microsoft.com/office/drawing/2014/main" id="{A6F4CA40-633E-4785-9E2F-C94294B51AB6}"/>
              </a:ext>
            </a:extLst>
          </p:cNvPr>
          <p:cNvGraphicFramePr>
            <a:graphicFrameLocks noGrp="1"/>
          </p:cNvGraphicFramePr>
          <p:nvPr>
            <p:extLst>
              <p:ext uri="{D42A27DB-BD31-4B8C-83A1-F6EECF244321}">
                <p14:modId xmlns:p14="http://schemas.microsoft.com/office/powerpoint/2010/main" val="1150685974"/>
              </p:ext>
            </p:extLst>
          </p:nvPr>
        </p:nvGraphicFramePr>
        <p:xfrm>
          <a:off x="6196707" y="3223628"/>
          <a:ext cx="4815004" cy="1167006"/>
        </p:xfrm>
        <a:graphic>
          <a:graphicData uri="http://schemas.openxmlformats.org/drawingml/2006/table">
            <a:tbl>
              <a:tblPr firstRow="1" bandRow="1">
                <a:tableStyleId>{5C22544A-7EE6-4342-B048-85BDC9FD1C3A}</a:tableStyleId>
              </a:tblPr>
              <a:tblGrid>
                <a:gridCol w="2016038">
                  <a:extLst>
                    <a:ext uri="{9D8B030D-6E8A-4147-A177-3AD203B41FA5}">
                      <a16:colId xmlns:a16="http://schemas.microsoft.com/office/drawing/2014/main" val="2122305181"/>
                    </a:ext>
                  </a:extLst>
                </a:gridCol>
                <a:gridCol w="1732228">
                  <a:extLst>
                    <a:ext uri="{9D8B030D-6E8A-4147-A177-3AD203B41FA5}">
                      <a16:colId xmlns:a16="http://schemas.microsoft.com/office/drawing/2014/main" val="2312927758"/>
                    </a:ext>
                  </a:extLst>
                </a:gridCol>
                <a:gridCol w="1066738">
                  <a:extLst>
                    <a:ext uri="{9D8B030D-6E8A-4147-A177-3AD203B41FA5}">
                      <a16:colId xmlns:a16="http://schemas.microsoft.com/office/drawing/2014/main" val="2529560297"/>
                    </a:ext>
                  </a:extLst>
                </a:gridCol>
              </a:tblGrid>
              <a:tr h="361298">
                <a:tc>
                  <a:txBody>
                    <a:bodyPr/>
                    <a:lstStyle/>
                    <a:p>
                      <a:pPr algn="ctr"/>
                      <a:r>
                        <a:rPr lang="en-US" sz="1200" dirty="0"/>
                        <a:t>Job role</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t>Average </a:t>
                      </a:r>
                      <a:r>
                        <a:rPr lang="en-US" sz="1200" dirty="0" err="1"/>
                        <a:t>Yrs</a:t>
                      </a:r>
                      <a:r>
                        <a:rPr lang="en-US" sz="1200" dirty="0"/>
                        <a:t> since last promotion</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t>Attrition</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54965775"/>
                  </a:ext>
                </a:extLst>
              </a:tr>
              <a:tr h="357351">
                <a:tc>
                  <a:txBody>
                    <a:bodyPr/>
                    <a:lstStyle/>
                    <a:p>
                      <a:pPr algn="ctr"/>
                      <a:r>
                        <a:rPr lang="en-US" sz="1200" dirty="0"/>
                        <a:t>Healthcare Representative</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t>5.8</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t>50.27%</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8058782"/>
                  </a:ext>
                </a:extLst>
              </a:tr>
              <a:tr h="352455">
                <a:tc>
                  <a:txBody>
                    <a:bodyPr/>
                    <a:lstStyle/>
                    <a:p>
                      <a:pPr algn="ctr"/>
                      <a:r>
                        <a:rPr lang="en-US" sz="1200" dirty="0"/>
                        <a:t>Research scientist</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t>5.9</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t>48.91%</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70408383"/>
                  </a:ext>
                </a:extLst>
              </a:tr>
            </a:tbl>
          </a:graphicData>
        </a:graphic>
      </p:graphicFrame>
    </p:spTree>
    <p:extLst>
      <p:ext uri="{BB962C8B-B14F-4D97-AF65-F5344CB8AC3E}">
        <p14:creationId xmlns:p14="http://schemas.microsoft.com/office/powerpoint/2010/main" val="745699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5382A-E052-4EF8-8B08-C19708A037D7}"/>
              </a:ext>
            </a:extLst>
          </p:cNvPr>
          <p:cNvSpPr>
            <a:spLocks noGrp="1"/>
          </p:cNvSpPr>
          <p:nvPr>
            <p:ph type="title"/>
          </p:nvPr>
        </p:nvSpPr>
        <p:spPr>
          <a:xfrm>
            <a:off x="1694931" y="348280"/>
            <a:ext cx="3988526" cy="522642"/>
          </a:xfrm>
          <a:solidFill>
            <a:schemeClr val="accent1">
              <a:alpha val="14000"/>
            </a:schemeClr>
          </a:solidFill>
          <a:ln>
            <a:noFill/>
          </a:ln>
          <a:effectLst/>
        </p:spPr>
        <p:txBody>
          <a:bodyPr vert="horz" lIns="91440" tIns="45720" rIns="91440" bIns="45720" rtlCol="0" anchor="b">
            <a:normAutofit fontScale="90000"/>
          </a:bodyPr>
          <a:lstStyle/>
          <a:p>
            <a:r>
              <a:rPr lang="en-US" sz="3200" b="1" dirty="0">
                <a:latin typeface="Times New Roman" panose="02020603050405020304" pitchFamily="18" charset="0"/>
                <a:cs typeface="Times New Roman" panose="02020603050405020304" pitchFamily="18" charset="0"/>
              </a:rPr>
              <a:t>EXCEL DASHBOARD</a:t>
            </a:r>
          </a:p>
        </p:txBody>
      </p:sp>
      <p:pic>
        <p:nvPicPr>
          <p:cNvPr id="7" name="Content Placeholder 6">
            <a:extLst>
              <a:ext uri="{FF2B5EF4-FFF2-40B4-BE49-F238E27FC236}">
                <a16:creationId xmlns:a16="http://schemas.microsoft.com/office/drawing/2014/main" id="{DC8AD23B-DB51-D600-883A-3D39976AEBD9}"/>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194" b="1361"/>
          <a:stretch/>
        </p:blipFill>
        <p:spPr>
          <a:xfrm>
            <a:off x="1393373" y="1079769"/>
            <a:ext cx="10552193" cy="5429951"/>
          </a:xfrm>
        </p:spPr>
      </p:pic>
    </p:spTree>
    <p:extLst>
      <p:ext uri="{BB962C8B-B14F-4D97-AF65-F5344CB8AC3E}">
        <p14:creationId xmlns:p14="http://schemas.microsoft.com/office/powerpoint/2010/main" val="3682120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5382A-E052-4EF8-8B08-C19708A037D7}"/>
              </a:ext>
            </a:extLst>
          </p:cNvPr>
          <p:cNvSpPr>
            <a:spLocks noGrp="1"/>
          </p:cNvSpPr>
          <p:nvPr>
            <p:ph type="title"/>
          </p:nvPr>
        </p:nvSpPr>
        <p:spPr>
          <a:xfrm>
            <a:off x="1393372" y="348280"/>
            <a:ext cx="5168201" cy="522642"/>
          </a:xfrm>
          <a:solidFill>
            <a:schemeClr val="accent1">
              <a:alpha val="14000"/>
            </a:schemeClr>
          </a:solidFill>
          <a:ln>
            <a:noFill/>
          </a:ln>
          <a:effectLst/>
        </p:spPr>
        <p:txBody>
          <a:bodyPr vert="horz" lIns="91440" tIns="45720" rIns="91440" bIns="45720" rtlCol="0" anchor="b">
            <a:normAutofit fontScale="90000"/>
          </a:bodyPr>
          <a:lstStyle/>
          <a:p>
            <a:r>
              <a:rPr lang="en-US" sz="3200" b="1" dirty="0">
                <a:latin typeface="Times New Roman" panose="02020603050405020304" pitchFamily="18" charset="0"/>
                <a:cs typeface="Times New Roman" panose="02020603050405020304" pitchFamily="18" charset="0"/>
              </a:rPr>
              <a:t>POWERBI DASHBOARD</a:t>
            </a:r>
          </a:p>
        </p:txBody>
      </p:sp>
      <p:pic>
        <p:nvPicPr>
          <p:cNvPr id="7" name="Picture 6">
            <a:extLst>
              <a:ext uri="{FF2B5EF4-FFF2-40B4-BE49-F238E27FC236}">
                <a16:creationId xmlns:a16="http://schemas.microsoft.com/office/drawing/2014/main" id="{D5FFCBF7-8283-E8E5-029D-AD9E951F02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9243" y="1095269"/>
            <a:ext cx="10737412" cy="5439149"/>
          </a:xfrm>
          <a:prstGeom prst="rect">
            <a:avLst/>
          </a:prstGeom>
        </p:spPr>
      </p:pic>
    </p:spTree>
    <p:extLst>
      <p:ext uri="{BB962C8B-B14F-4D97-AF65-F5344CB8AC3E}">
        <p14:creationId xmlns:p14="http://schemas.microsoft.com/office/powerpoint/2010/main" val="3103151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5382A-E052-4EF8-8B08-C19708A037D7}"/>
              </a:ext>
            </a:extLst>
          </p:cNvPr>
          <p:cNvSpPr>
            <a:spLocks noGrp="1"/>
          </p:cNvSpPr>
          <p:nvPr>
            <p:ph type="title"/>
          </p:nvPr>
        </p:nvSpPr>
        <p:spPr>
          <a:xfrm>
            <a:off x="1443614" y="257845"/>
            <a:ext cx="4947137" cy="522642"/>
          </a:xfrm>
          <a:solidFill>
            <a:schemeClr val="accent1">
              <a:alpha val="14000"/>
            </a:schemeClr>
          </a:solidFill>
          <a:ln>
            <a:noFill/>
          </a:ln>
          <a:effectLst/>
        </p:spPr>
        <p:txBody>
          <a:bodyPr vert="horz" lIns="91440" tIns="45720" rIns="91440" bIns="45720" rtlCol="0" anchor="b">
            <a:normAutofit fontScale="90000"/>
          </a:bodyPr>
          <a:lstStyle/>
          <a:p>
            <a:r>
              <a:rPr lang="en-US" sz="3200" b="1" dirty="0">
                <a:latin typeface="Times New Roman" panose="02020603050405020304" pitchFamily="18" charset="0"/>
                <a:cs typeface="Times New Roman" panose="02020603050405020304" pitchFamily="18" charset="0"/>
              </a:rPr>
              <a:t>TABLEAU DASHBOARD</a:t>
            </a:r>
          </a:p>
        </p:txBody>
      </p:sp>
      <p:pic>
        <p:nvPicPr>
          <p:cNvPr id="7" name="Picture 6">
            <a:extLst>
              <a:ext uri="{FF2B5EF4-FFF2-40B4-BE49-F238E27FC236}">
                <a16:creationId xmlns:a16="http://schemas.microsoft.com/office/drawing/2014/main" id="{78F6C089-C470-4653-8B3B-814F3CEC12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326" y="1085222"/>
            <a:ext cx="11270921" cy="5596932"/>
          </a:xfrm>
          <a:prstGeom prst="rect">
            <a:avLst/>
          </a:prstGeom>
        </p:spPr>
      </p:pic>
    </p:spTree>
    <p:extLst>
      <p:ext uri="{BB962C8B-B14F-4D97-AF65-F5344CB8AC3E}">
        <p14:creationId xmlns:p14="http://schemas.microsoft.com/office/powerpoint/2010/main" val="752175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5382A-E052-4EF8-8B08-C19708A037D7}"/>
              </a:ext>
            </a:extLst>
          </p:cNvPr>
          <p:cNvSpPr>
            <a:spLocks noGrp="1"/>
          </p:cNvSpPr>
          <p:nvPr>
            <p:ph type="title"/>
          </p:nvPr>
        </p:nvSpPr>
        <p:spPr>
          <a:xfrm>
            <a:off x="1393373" y="348280"/>
            <a:ext cx="3988526" cy="522642"/>
          </a:xfrm>
          <a:solidFill>
            <a:schemeClr val="accent1">
              <a:alpha val="14000"/>
            </a:schemeClr>
          </a:solidFill>
          <a:ln>
            <a:noFill/>
          </a:ln>
          <a:effectLst/>
        </p:spPr>
        <p:txBody>
          <a:bodyPr vert="horz" lIns="91440" tIns="45720" rIns="91440" bIns="45720" rtlCol="0" anchor="b">
            <a:normAutofit fontScale="90000"/>
          </a:bodyPr>
          <a:lstStyle/>
          <a:p>
            <a:r>
              <a:rPr lang="en-US" sz="3200" b="1" dirty="0">
                <a:latin typeface="Times New Roman" panose="02020603050405020304" pitchFamily="18" charset="0"/>
                <a:cs typeface="Times New Roman" panose="02020603050405020304" pitchFamily="18" charset="0"/>
              </a:rPr>
              <a:t>SQL QUERY</a:t>
            </a:r>
          </a:p>
        </p:txBody>
      </p:sp>
      <p:pic>
        <p:nvPicPr>
          <p:cNvPr id="5" name="Content Placeholder 4">
            <a:extLst>
              <a:ext uri="{FF2B5EF4-FFF2-40B4-BE49-F238E27FC236}">
                <a16:creationId xmlns:a16="http://schemas.microsoft.com/office/drawing/2014/main" id="{BF5C70F7-B3F9-4FDE-A41B-A6849B526E2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025" t="17289" r="34051" b="17539"/>
          <a:stretch/>
        </p:blipFill>
        <p:spPr>
          <a:xfrm>
            <a:off x="217712" y="1351654"/>
            <a:ext cx="5259979" cy="3448087"/>
          </a:xfrm>
        </p:spPr>
      </p:pic>
      <p:graphicFrame>
        <p:nvGraphicFramePr>
          <p:cNvPr id="8" name="Table 7">
            <a:extLst>
              <a:ext uri="{FF2B5EF4-FFF2-40B4-BE49-F238E27FC236}">
                <a16:creationId xmlns:a16="http://schemas.microsoft.com/office/drawing/2014/main" id="{F4961D3B-1A9D-4EE5-BEC9-E68A0526BECA}"/>
              </a:ext>
            </a:extLst>
          </p:cNvPr>
          <p:cNvGraphicFramePr>
            <a:graphicFrameLocks noGrp="1"/>
          </p:cNvGraphicFramePr>
          <p:nvPr>
            <p:extLst>
              <p:ext uri="{D42A27DB-BD31-4B8C-83A1-F6EECF244321}">
                <p14:modId xmlns:p14="http://schemas.microsoft.com/office/powerpoint/2010/main" val="410429349"/>
              </p:ext>
            </p:extLst>
          </p:nvPr>
        </p:nvGraphicFramePr>
        <p:xfrm>
          <a:off x="2159726" y="4928620"/>
          <a:ext cx="3317965" cy="1782120"/>
        </p:xfrm>
        <a:graphic>
          <a:graphicData uri="http://schemas.openxmlformats.org/drawingml/2006/table">
            <a:tbl>
              <a:tblPr/>
              <a:tblGrid>
                <a:gridCol w="2185851">
                  <a:extLst>
                    <a:ext uri="{9D8B030D-6E8A-4147-A177-3AD203B41FA5}">
                      <a16:colId xmlns:a16="http://schemas.microsoft.com/office/drawing/2014/main" val="3136733820"/>
                    </a:ext>
                  </a:extLst>
                </a:gridCol>
                <a:gridCol w="1132114">
                  <a:extLst>
                    <a:ext uri="{9D8B030D-6E8A-4147-A177-3AD203B41FA5}">
                      <a16:colId xmlns:a16="http://schemas.microsoft.com/office/drawing/2014/main" val="386801752"/>
                    </a:ext>
                  </a:extLst>
                </a:gridCol>
              </a:tblGrid>
              <a:tr h="249177">
                <a:tc>
                  <a:txBody>
                    <a:bodyPr/>
                    <a:lstStyle/>
                    <a:p>
                      <a:r>
                        <a:rPr lang="en-US" sz="1050" b="1" dirty="0">
                          <a:solidFill>
                            <a:schemeClr val="bg1"/>
                          </a:solidFill>
                        </a:rPr>
                        <a:t>Department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r>
                        <a:rPr lang="en-US" sz="1050" b="1" dirty="0">
                          <a:solidFill>
                            <a:schemeClr val="bg1"/>
                          </a:solidFill>
                        </a:rPr>
                        <a:t>Attrition rate</a:t>
                      </a:r>
                      <a:endParaRPr lang="en-IN" sz="105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extLst>
                  <a:ext uri="{0D108BD9-81ED-4DB2-BD59-A6C34878D82A}">
                    <a16:rowId xmlns:a16="http://schemas.microsoft.com/office/drawing/2014/main" val="1529321047"/>
                  </a:ext>
                </a:extLst>
              </a:tr>
              <a:tr h="223667">
                <a:tc>
                  <a:txBody>
                    <a:bodyPr/>
                    <a:lstStyle/>
                    <a:p>
                      <a:r>
                        <a:rPr lang="en-IN" sz="1050" dirty="0"/>
                        <a:t>Hardware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50" dirty="0"/>
                        <a:t>49.44%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038445"/>
                  </a:ext>
                </a:extLst>
              </a:tr>
              <a:tr h="223667">
                <a:tc>
                  <a:txBody>
                    <a:bodyPr/>
                    <a:lstStyle/>
                    <a:p>
                      <a:r>
                        <a:rPr lang="en-IN" sz="1050" dirty="0"/>
                        <a:t>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50"/>
                        <a:t>50.19%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7745560"/>
                  </a:ext>
                </a:extLst>
              </a:tr>
              <a:tr h="223667">
                <a:tc>
                  <a:txBody>
                    <a:bodyPr/>
                    <a:lstStyle/>
                    <a:p>
                      <a:r>
                        <a:rPr lang="en-IN" sz="1050" dirty="0"/>
                        <a:t>Sales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50" dirty="0"/>
                        <a:t>50.02%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6310377"/>
                  </a:ext>
                </a:extLst>
              </a:tr>
              <a:tr h="273360">
                <a:tc>
                  <a:txBody>
                    <a:bodyPr/>
                    <a:lstStyle/>
                    <a:p>
                      <a:r>
                        <a:rPr lang="en-IN" sz="1050" dirty="0"/>
                        <a:t>Research &amp; Development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50" dirty="0"/>
                        <a:t>51.21%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6895638"/>
                  </a:ext>
                </a:extLst>
              </a:tr>
              <a:tr h="223667">
                <a:tc>
                  <a:txBody>
                    <a:bodyPr/>
                    <a:lstStyle/>
                    <a:p>
                      <a:r>
                        <a:rPr lang="en-IN" sz="1050"/>
                        <a:t>Software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50" dirty="0"/>
                        <a:t>50.54%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7911235"/>
                  </a:ext>
                </a:extLst>
              </a:tr>
              <a:tr h="223667">
                <a:tc>
                  <a:txBody>
                    <a:bodyPr/>
                    <a:lstStyle/>
                    <a:p>
                      <a:r>
                        <a:rPr lang="en-IN" sz="1050" dirty="0"/>
                        <a:t>Human Resources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50" dirty="0"/>
                        <a:t>49.86%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1753037"/>
                  </a:ext>
                </a:extLst>
              </a:tr>
            </a:tbl>
          </a:graphicData>
        </a:graphic>
      </p:graphicFrame>
      <p:graphicFrame>
        <p:nvGraphicFramePr>
          <p:cNvPr id="11" name="Table 10">
            <a:extLst>
              <a:ext uri="{FF2B5EF4-FFF2-40B4-BE49-F238E27FC236}">
                <a16:creationId xmlns:a16="http://schemas.microsoft.com/office/drawing/2014/main" id="{43C9581F-9322-48FF-8C11-2A687BEFC994}"/>
              </a:ext>
            </a:extLst>
          </p:cNvPr>
          <p:cNvGraphicFramePr>
            <a:graphicFrameLocks noGrp="1"/>
          </p:cNvGraphicFramePr>
          <p:nvPr>
            <p:extLst>
              <p:ext uri="{D42A27DB-BD31-4B8C-83A1-F6EECF244321}">
                <p14:modId xmlns:p14="http://schemas.microsoft.com/office/powerpoint/2010/main" val="3061134044"/>
              </p:ext>
            </p:extLst>
          </p:nvPr>
        </p:nvGraphicFramePr>
        <p:xfrm>
          <a:off x="6166338" y="4251101"/>
          <a:ext cx="5005902" cy="548640"/>
        </p:xfrm>
        <a:graphic>
          <a:graphicData uri="http://schemas.openxmlformats.org/drawingml/2006/table">
            <a:tbl>
              <a:tblPr/>
              <a:tblGrid>
                <a:gridCol w="1549718">
                  <a:extLst>
                    <a:ext uri="{9D8B030D-6E8A-4147-A177-3AD203B41FA5}">
                      <a16:colId xmlns:a16="http://schemas.microsoft.com/office/drawing/2014/main" val="3588620391"/>
                    </a:ext>
                  </a:extLst>
                </a:gridCol>
                <a:gridCol w="1728092">
                  <a:extLst>
                    <a:ext uri="{9D8B030D-6E8A-4147-A177-3AD203B41FA5}">
                      <a16:colId xmlns:a16="http://schemas.microsoft.com/office/drawing/2014/main" val="1179714333"/>
                    </a:ext>
                  </a:extLst>
                </a:gridCol>
                <a:gridCol w="1728092">
                  <a:extLst>
                    <a:ext uri="{9D8B030D-6E8A-4147-A177-3AD203B41FA5}">
                      <a16:colId xmlns:a16="http://schemas.microsoft.com/office/drawing/2014/main" val="2607107991"/>
                    </a:ext>
                  </a:extLst>
                </a:gridCol>
              </a:tblGrid>
              <a:tr h="267855">
                <a:tc>
                  <a:txBody>
                    <a:bodyPr/>
                    <a:lstStyle/>
                    <a:p>
                      <a:r>
                        <a:rPr lang="en-US" sz="1200" b="1" dirty="0">
                          <a:solidFill>
                            <a:schemeClr val="bg1"/>
                          </a:solidFill>
                        </a:rPr>
                        <a:t>Job Role</a:t>
                      </a:r>
                      <a:endParaRPr lang="en-IN" sz="12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r>
                        <a:rPr lang="en-US" sz="1200" b="1" dirty="0">
                          <a:solidFill>
                            <a:schemeClr val="bg1"/>
                          </a:solidFill>
                        </a:rPr>
                        <a:t>Gender</a:t>
                      </a:r>
                      <a:endParaRPr lang="en-IN" sz="12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r>
                        <a:rPr lang="en-US" sz="1200" b="1" dirty="0">
                          <a:solidFill>
                            <a:schemeClr val="bg1"/>
                          </a:solidFill>
                        </a:rPr>
                        <a:t>Avg working hours</a:t>
                      </a:r>
                      <a:endParaRPr lang="en-IN" sz="12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1933902223"/>
                  </a:ext>
                </a:extLst>
              </a:tr>
              <a:tr h="267855">
                <a:tc>
                  <a:txBody>
                    <a:bodyPr/>
                    <a:lstStyle/>
                    <a:p>
                      <a:r>
                        <a:rPr lang="en-IN" sz="1200" dirty="0"/>
                        <a:t>Research Scientist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a:t>Male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a:t>114.45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5808801"/>
                  </a:ext>
                </a:extLst>
              </a:tr>
            </a:tbl>
          </a:graphicData>
        </a:graphic>
      </p:graphicFrame>
      <p:sp>
        <p:nvSpPr>
          <p:cNvPr id="13" name="TextBox 12">
            <a:extLst>
              <a:ext uri="{FF2B5EF4-FFF2-40B4-BE49-F238E27FC236}">
                <a16:creationId xmlns:a16="http://schemas.microsoft.com/office/drawing/2014/main" id="{CD206E73-9624-4459-AD15-07328D47A08F}"/>
              </a:ext>
            </a:extLst>
          </p:cNvPr>
          <p:cNvSpPr txBox="1"/>
          <p:nvPr/>
        </p:nvSpPr>
        <p:spPr>
          <a:xfrm>
            <a:off x="740565" y="853443"/>
            <a:ext cx="5033554" cy="369332"/>
          </a:xfrm>
          <a:prstGeom prst="rect">
            <a:avLst/>
          </a:prstGeom>
          <a:noFill/>
        </p:spPr>
        <p:txBody>
          <a:bodyPr wrap="square">
            <a:spAutoFit/>
          </a:bodyPr>
          <a:lstStyle/>
          <a:p>
            <a:pPr>
              <a:buClr>
                <a:schemeClr val="tx1"/>
              </a:buClr>
              <a:buSzPct val="81000"/>
            </a:pPr>
            <a:r>
              <a:rPr lang="en-US" sz="1800" dirty="0">
                <a:latin typeface="Times New Roman" panose="02020603050405020304" pitchFamily="18" charset="0"/>
                <a:cs typeface="Times New Roman" panose="02020603050405020304" pitchFamily="18" charset="0"/>
              </a:rPr>
              <a:t>KPI -1 : </a:t>
            </a:r>
            <a:r>
              <a:rPr lang="en-IN" sz="1800" dirty="0">
                <a:latin typeface="Times New Roman" panose="02020603050405020304" pitchFamily="18" charset="0"/>
                <a:cs typeface="Times New Roman" panose="02020603050405020304" pitchFamily="18" charset="0"/>
              </a:rPr>
              <a:t>Average Attrition rate for all Departments.</a:t>
            </a:r>
            <a:endParaRPr lang="en-US" sz="18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DD1FCDC-454C-40C5-A5CD-3D325E742E28}"/>
              </a:ext>
            </a:extLst>
          </p:cNvPr>
          <p:cNvSpPr txBox="1"/>
          <p:nvPr/>
        </p:nvSpPr>
        <p:spPr>
          <a:xfrm>
            <a:off x="6166338" y="870922"/>
            <a:ext cx="6096000" cy="369332"/>
          </a:xfrm>
          <a:prstGeom prst="rect">
            <a:avLst/>
          </a:prstGeom>
          <a:noFill/>
        </p:spPr>
        <p:txBody>
          <a:bodyPr wrap="square">
            <a:spAutoFit/>
          </a:bodyPr>
          <a:lstStyle/>
          <a:p>
            <a:pPr>
              <a:buClr>
                <a:schemeClr val="tx1"/>
              </a:buClr>
              <a:buSzPct val="81000"/>
            </a:pPr>
            <a:r>
              <a:rPr lang="en-US" sz="1800" dirty="0">
                <a:latin typeface="Times New Roman" panose="02020603050405020304" pitchFamily="18" charset="0"/>
                <a:cs typeface="Times New Roman" panose="02020603050405020304" pitchFamily="18" charset="0"/>
              </a:rPr>
              <a:t>KPI -2 : </a:t>
            </a:r>
            <a:r>
              <a:rPr lang="en-IN" sz="1800" dirty="0">
                <a:latin typeface="Times New Roman" panose="02020603050405020304" pitchFamily="18" charset="0"/>
                <a:cs typeface="Times New Roman" panose="02020603050405020304" pitchFamily="18" charset="0"/>
              </a:rPr>
              <a:t>Average Hourly rate of Male Research Scientist</a:t>
            </a:r>
            <a:r>
              <a:rPr lang="en-US" sz="1800" dirty="0">
                <a:latin typeface="Times New Roman" panose="02020603050405020304" pitchFamily="18" charset="0"/>
                <a:cs typeface="Times New Roman" panose="02020603050405020304" pitchFamily="18" charset="0"/>
              </a:rPr>
              <a:t>.</a:t>
            </a:r>
          </a:p>
        </p:txBody>
      </p:sp>
      <p:pic>
        <p:nvPicPr>
          <p:cNvPr id="17" name="Picture 16">
            <a:extLst>
              <a:ext uri="{FF2B5EF4-FFF2-40B4-BE49-F238E27FC236}">
                <a16:creationId xmlns:a16="http://schemas.microsoft.com/office/drawing/2014/main" id="{8C3F0C21-F218-4F0D-9FE5-177F30FC9A1A}"/>
              </a:ext>
            </a:extLst>
          </p:cNvPr>
          <p:cNvPicPr>
            <a:picLocks noChangeAspect="1"/>
          </p:cNvPicPr>
          <p:nvPr/>
        </p:nvPicPr>
        <p:blipFill rotWithShape="1">
          <a:blip r:embed="rId3">
            <a:extLst>
              <a:ext uri="{28A0092B-C50C-407E-A947-70E740481C1C}">
                <a14:useLocalDpi xmlns:a14="http://schemas.microsoft.com/office/drawing/2010/main" val="0"/>
              </a:ext>
            </a:extLst>
          </a:blip>
          <a:srcRect l="9988" t="27090" r="31214" b="28360"/>
          <a:stretch/>
        </p:blipFill>
        <p:spPr>
          <a:xfrm>
            <a:off x="5838574" y="1351654"/>
            <a:ext cx="6267012" cy="2670956"/>
          </a:xfrm>
          <a:prstGeom prst="rect">
            <a:avLst/>
          </a:prstGeom>
        </p:spPr>
      </p:pic>
    </p:spTree>
    <p:extLst>
      <p:ext uri="{BB962C8B-B14F-4D97-AF65-F5344CB8AC3E}">
        <p14:creationId xmlns:p14="http://schemas.microsoft.com/office/powerpoint/2010/main" val="780711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5382A-E052-4EF8-8B08-C19708A037D7}"/>
              </a:ext>
            </a:extLst>
          </p:cNvPr>
          <p:cNvSpPr>
            <a:spLocks noGrp="1"/>
          </p:cNvSpPr>
          <p:nvPr>
            <p:ph type="title"/>
          </p:nvPr>
        </p:nvSpPr>
        <p:spPr>
          <a:xfrm>
            <a:off x="1393373" y="348280"/>
            <a:ext cx="3988526" cy="522642"/>
          </a:xfrm>
          <a:solidFill>
            <a:schemeClr val="accent1">
              <a:alpha val="14000"/>
            </a:schemeClr>
          </a:solidFill>
          <a:ln>
            <a:noFill/>
          </a:ln>
          <a:effectLst/>
        </p:spPr>
        <p:txBody>
          <a:bodyPr vert="horz" lIns="91440" tIns="45720" rIns="91440" bIns="45720" rtlCol="0" anchor="b">
            <a:normAutofit fontScale="90000"/>
          </a:bodyPr>
          <a:lstStyle/>
          <a:p>
            <a:r>
              <a:rPr lang="en-US" sz="3200" b="1" dirty="0">
                <a:latin typeface="Times New Roman" panose="02020603050405020304" pitchFamily="18" charset="0"/>
                <a:cs typeface="Times New Roman" panose="02020603050405020304" pitchFamily="18" charset="0"/>
              </a:rPr>
              <a:t>SQL QUERY</a:t>
            </a:r>
          </a:p>
        </p:txBody>
      </p:sp>
      <p:pic>
        <p:nvPicPr>
          <p:cNvPr id="14" name="Content Placeholder 13">
            <a:extLst>
              <a:ext uri="{FF2B5EF4-FFF2-40B4-BE49-F238E27FC236}">
                <a16:creationId xmlns:a16="http://schemas.microsoft.com/office/drawing/2014/main" id="{2EEC0C61-FCFA-4EC4-A006-D7579B9A064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373" t="19779" r="45716" b="28682"/>
          <a:stretch/>
        </p:blipFill>
        <p:spPr>
          <a:xfrm>
            <a:off x="348344" y="1489167"/>
            <a:ext cx="4806920" cy="3126376"/>
          </a:xfrm>
        </p:spPr>
      </p:pic>
      <p:graphicFrame>
        <p:nvGraphicFramePr>
          <p:cNvPr id="16" name="Table 15">
            <a:extLst>
              <a:ext uri="{FF2B5EF4-FFF2-40B4-BE49-F238E27FC236}">
                <a16:creationId xmlns:a16="http://schemas.microsoft.com/office/drawing/2014/main" id="{C1B1B3C0-D016-4AAE-9C43-F6F66CD25AC0}"/>
              </a:ext>
            </a:extLst>
          </p:cNvPr>
          <p:cNvGraphicFramePr>
            <a:graphicFrameLocks noGrp="1"/>
          </p:cNvGraphicFramePr>
          <p:nvPr>
            <p:extLst>
              <p:ext uri="{D42A27DB-BD31-4B8C-83A1-F6EECF244321}">
                <p14:modId xmlns:p14="http://schemas.microsoft.com/office/powerpoint/2010/main" val="2768985389"/>
              </p:ext>
            </p:extLst>
          </p:nvPr>
        </p:nvGraphicFramePr>
        <p:xfrm>
          <a:off x="243128" y="4840673"/>
          <a:ext cx="5017351" cy="1828800"/>
        </p:xfrm>
        <a:graphic>
          <a:graphicData uri="http://schemas.openxmlformats.org/drawingml/2006/table">
            <a:tbl>
              <a:tblPr>
                <a:tableStyleId>{3C2FFA5D-87B4-456A-9821-1D502468CF0F}</a:tableStyleId>
              </a:tblPr>
              <a:tblGrid>
                <a:gridCol w="1968818">
                  <a:extLst>
                    <a:ext uri="{9D8B030D-6E8A-4147-A177-3AD203B41FA5}">
                      <a16:colId xmlns:a16="http://schemas.microsoft.com/office/drawing/2014/main" val="1265329225"/>
                    </a:ext>
                  </a:extLst>
                </a:gridCol>
                <a:gridCol w="1629036">
                  <a:extLst>
                    <a:ext uri="{9D8B030D-6E8A-4147-A177-3AD203B41FA5}">
                      <a16:colId xmlns:a16="http://schemas.microsoft.com/office/drawing/2014/main" val="1018617632"/>
                    </a:ext>
                  </a:extLst>
                </a:gridCol>
                <a:gridCol w="1419497">
                  <a:extLst>
                    <a:ext uri="{9D8B030D-6E8A-4147-A177-3AD203B41FA5}">
                      <a16:colId xmlns:a16="http://schemas.microsoft.com/office/drawing/2014/main" val="2530298268"/>
                    </a:ext>
                  </a:extLst>
                </a:gridCol>
              </a:tblGrid>
              <a:tr h="0">
                <a:tc>
                  <a:txBody>
                    <a:bodyPr/>
                    <a:lstStyle/>
                    <a:p>
                      <a:r>
                        <a:rPr lang="en-US" sz="1200" b="1" dirty="0">
                          <a:solidFill>
                            <a:schemeClr val="bg1"/>
                          </a:solidFill>
                        </a:rPr>
                        <a:t>Department</a:t>
                      </a:r>
                      <a:endParaRPr lang="en-IN" sz="1200" b="1" dirty="0">
                        <a:solidFill>
                          <a:schemeClr val="bg1"/>
                        </a:solidFill>
                      </a:endParaRPr>
                    </a:p>
                  </a:txBody>
                  <a:tcPr anchor="ctr">
                    <a:solidFill>
                      <a:srgbClr val="FF0000"/>
                    </a:solidFill>
                  </a:tcPr>
                </a:tc>
                <a:tc>
                  <a:txBody>
                    <a:bodyPr/>
                    <a:lstStyle/>
                    <a:p>
                      <a:r>
                        <a:rPr lang="en-US" sz="1200" b="1" dirty="0">
                          <a:solidFill>
                            <a:schemeClr val="bg1"/>
                          </a:solidFill>
                        </a:rPr>
                        <a:t>Total Monthly Income</a:t>
                      </a:r>
                      <a:endParaRPr lang="en-IN" sz="1200" b="1" dirty="0">
                        <a:solidFill>
                          <a:schemeClr val="bg1"/>
                        </a:solidFill>
                      </a:endParaRPr>
                    </a:p>
                  </a:txBody>
                  <a:tcPr anchor="ctr">
                    <a:solidFill>
                      <a:srgbClr val="FF0000"/>
                    </a:solidFill>
                  </a:tcPr>
                </a:tc>
                <a:tc>
                  <a:txBody>
                    <a:bodyPr/>
                    <a:lstStyle/>
                    <a:p>
                      <a:r>
                        <a:rPr lang="en-US" sz="1200" b="1" dirty="0">
                          <a:solidFill>
                            <a:schemeClr val="bg1"/>
                          </a:solidFill>
                        </a:rPr>
                        <a:t>Attrition Rate</a:t>
                      </a:r>
                      <a:endParaRPr lang="en-IN" sz="1200" b="1" dirty="0">
                        <a:solidFill>
                          <a:schemeClr val="bg1"/>
                        </a:solidFill>
                      </a:endParaRPr>
                    </a:p>
                  </a:txBody>
                  <a:tcPr anchor="ctr">
                    <a:solidFill>
                      <a:srgbClr val="FF0000"/>
                    </a:solidFill>
                  </a:tcPr>
                </a:tc>
                <a:extLst>
                  <a:ext uri="{0D108BD9-81ED-4DB2-BD59-A6C34878D82A}">
                    <a16:rowId xmlns:a16="http://schemas.microsoft.com/office/drawing/2014/main" val="2827453125"/>
                  </a:ext>
                </a:extLst>
              </a:tr>
              <a:tr h="0">
                <a:tc>
                  <a:txBody>
                    <a:bodyPr/>
                    <a:lstStyle/>
                    <a:p>
                      <a:r>
                        <a:rPr lang="en-IN" sz="1100" dirty="0"/>
                        <a:t>Hardware</a:t>
                      </a:r>
                    </a:p>
                  </a:txBody>
                  <a:tcPr anchor="ctr"/>
                </a:tc>
                <a:tc>
                  <a:txBody>
                    <a:bodyPr/>
                    <a:lstStyle/>
                    <a:p>
                      <a:r>
                        <a:rPr lang="en-IN" sz="1100" dirty="0"/>
                        <a:t>212623306</a:t>
                      </a:r>
                    </a:p>
                  </a:txBody>
                  <a:tcPr anchor="ctr"/>
                </a:tc>
                <a:tc>
                  <a:txBody>
                    <a:bodyPr/>
                    <a:lstStyle/>
                    <a:p>
                      <a:r>
                        <a:rPr lang="en-IN" sz="1100" dirty="0"/>
                        <a:t>49.44%</a:t>
                      </a:r>
                    </a:p>
                  </a:txBody>
                  <a:tcPr anchor="ctr"/>
                </a:tc>
                <a:extLst>
                  <a:ext uri="{0D108BD9-81ED-4DB2-BD59-A6C34878D82A}">
                    <a16:rowId xmlns:a16="http://schemas.microsoft.com/office/drawing/2014/main" val="3072980126"/>
                  </a:ext>
                </a:extLst>
              </a:tr>
              <a:tr h="0">
                <a:tc>
                  <a:txBody>
                    <a:bodyPr/>
                    <a:lstStyle/>
                    <a:p>
                      <a:r>
                        <a:rPr lang="en-IN" sz="1100" dirty="0"/>
                        <a:t>Support</a:t>
                      </a:r>
                    </a:p>
                  </a:txBody>
                  <a:tcPr anchor="ctr"/>
                </a:tc>
                <a:tc>
                  <a:txBody>
                    <a:bodyPr/>
                    <a:lstStyle/>
                    <a:p>
                      <a:r>
                        <a:rPr lang="en-IN" sz="1100"/>
                        <a:t>216471502</a:t>
                      </a:r>
                    </a:p>
                  </a:txBody>
                  <a:tcPr anchor="ctr"/>
                </a:tc>
                <a:tc>
                  <a:txBody>
                    <a:bodyPr/>
                    <a:lstStyle/>
                    <a:p>
                      <a:r>
                        <a:rPr lang="en-IN" sz="1100" dirty="0"/>
                        <a:t>50.19%</a:t>
                      </a:r>
                    </a:p>
                  </a:txBody>
                  <a:tcPr anchor="ctr"/>
                </a:tc>
                <a:extLst>
                  <a:ext uri="{0D108BD9-81ED-4DB2-BD59-A6C34878D82A}">
                    <a16:rowId xmlns:a16="http://schemas.microsoft.com/office/drawing/2014/main" val="1731180996"/>
                  </a:ext>
                </a:extLst>
              </a:tr>
              <a:tr h="0">
                <a:tc>
                  <a:txBody>
                    <a:bodyPr/>
                    <a:lstStyle/>
                    <a:p>
                      <a:r>
                        <a:rPr lang="en-IN" sz="1100" dirty="0"/>
                        <a:t>Sales</a:t>
                      </a:r>
                    </a:p>
                  </a:txBody>
                  <a:tcPr anchor="ctr"/>
                </a:tc>
                <a:tc>
                  <a:txBody>
                    <a:bodyPr/>
                    <a:lstStyle/>
                    <a:p>
                      <a:r>
                        <a:rPr lang="en-IN" sz="1100"/>
                        <a:t>220781823</a:t>
                      </a:r>
                    </a:p>
                  </a:txBody>
                  <a:tcPr anchor="ctr"/>
                </a:tc>
                <a:tc>
                  <a:txBody>
                    <a:bodyPr/>
                    <a:lstStyle/>
                    <a:p>
                      <a:r>
                        <a:rPr lang="en-IN" sz="1100"/>
                        <a:t>50.02%</a:t>
                      </a:r>
                    </a:p>
                  </a:txBody>
                  <a:tcPr anchor="ctr"/>
                </a:tc>
                <a:extLst>
                  <a:ext uri="{0D108BD9-81ED-4DB2-BD59-A6C34878D82A}">
                    <a16:rowId xmlns:a16="http://schemas.microsoft.com/office/drawing/2014/main" val="2387367174"/>
                  </a:ext>
                </a:extLst>
              </a:tr>
              <a:tr h="0">
                <a:tc>
                  <a:txBody>
                    <a:bodyPr/>
                    <a:lstStyle/>
                    <a:p>
                      <a:r>
                        <a:rPr lang="en-IN" sz="1100" dirty="0"/>
                        <a:t>Research &amp; Development</a:t>
                      </a:r>
                    </a:p>
                  </a:txBody>
                  <a:tcPr anchor="ctr"/>
                </a:tc>
                <a:tc>
                  <a:txBody>
                    <a:bodyPr/>
                    <a:lstStyle/>
                    <a:p>
                      <a:r>
                        <a:rPr lang="en-IN" sz="1100"/>
                        <a:t>214597585</a:t>
                      </a:r>
                    </a:p>
                  </a:txBody>
                  <a:tcPr anchor="ctr"/>
                </a:tc>
                <a:tc>
                  <a:txBody>
                    <a:bodyPr/>
                    <a:lstStyle/>
                    <a:p>
                      <a:r>
                        <a:rPr lang="en-IN" sz="1100"/>
                        <a:t>51.21%</a:t>
                      </a:r>
                    </a:p>
                  </a:txBody>
                  <a:tcPr anchor="ctr"/>
                </a:tc>
                <a:extLst>
                  <a:ext uri="{0D108BD9-81ED-4DB2-BD59-A6C34878D82A}">
                    <a16:rowId xmlns:a16="http://schemas.microsoft.com/office/drawing/2014/main" val="3163506186"/>
                  </a:ext>
                </a:extLst>
              </a:tr>
              <a:tr h="0">
                <a:tc>
                  <a:txBody>
                    <a:bodyPr/>
                    <a:lstStyle/>
                    <a:p>
                      <a:r>
                        <a:rPr lang="en-IN" sz="1100" dirty="0"/>
                        <a:t>Software</a:t>
                      </a:r>
                    </a:p>
                  </a:txBody>
                  <a:tcPr anchor="ctr"/>
                </a:tc>
                <a:tc>
                  <a:txBody>
                    <a:bodyPr/>
                    <a:lstStyle/>
                    <a:p>
                      <a:r>
                        <a:rPr lang="en-IN" sz="1100"/>
                        <a:t>216954853</a:t>
                      </a:r>
                    </a:p>
                  </a:txBody>
                  <a:tcPr anchor="ctr"/>
                </a:tc>
                <a:tc>
                  <a:txBody>
                    <a:bodyPr/>
                    <a:lstStyle/>
                    <a:p>
                      <a:r>
                        <a:rPr lang="en-IN" sz="1100"/>
                        <a:t>50.54%</a:t>
                      </a:r>
                    </a:p>
                  </a:txBody>
                  <a:tcPr anchor="ctr"/>
                </a:tc>
                <a:extLst>
                  <a:ext uri="{0D108BD9-81ED-4DB2-BD59-A6C34878D82A}">
                    <a16:rowId xmlns:a16="http://schemas.microsoft.com/office/drawing/2014/main" val="3203278180"/>
                  </a:ext>
                </a:extLst>
              </a:tr>
              <a:tr h="0">
                <a:tc>
                  <a:txBody>
                    <a:bodyPr/>
                    <a:lstStyle/>
                    <a:p>
                      <a:r>
                        <a:rPr lang="en-IN" sz="1100"/>
                        <a:t>Human Resources</a:t>
                      </a:r>
                    </a:p>
                  </a:txBody>
                  <a:tcPr anchor="ctr"/>
                </a:tc>
                <a:tc>
                  <a:txBody>
                    <a:bodyPr/>
                    <a:lstStyle/>
                    <a:p>
                      <a:r>
                        <a:rPr lang="en-IN" sz="1100" dirty="0"/>
                        <a:t>219359994</a:t>
                      </a:r>
                    </a:p>
                  </a:txBody>
                  <a:tcPr anchor="ctr"/>
                </a:tc>
                <a:tc>
                  <a:txBody>
                    <a:bodyPr/>
                    <a:lstStyle/>
                    <a:p>
                      <a:r>
                        <a:rPr lang="en-IN" sz="1100" dirty="0"/>
                        <a:t>49.86%</a:t>
                      </a:r>
                    </a:p>
                  </a:txBody>
                  <a:tcPr anchor="ctr"/>
                </a:tc>
                <a:extLst>
                  <a:ext uri="{0D108BD9-81ED-4DB2-BD59-A6C34878D82A}">
                    <a16:rowId xmlns:a16="http://schemas.microsoft.com/office/drawing/2014/main" val="535463597"/>
                  </a:ext>
                </a:extLst>
              </a:tr>
            </a:tbl>
          </a:graphicData>
        </a:graphic>
      </p:graphicFrame>
      <p:pic>
        <p:nvPicPr>
          <p:cNvPr id="18" name="Picture 17">
            <a:extLst>
              <a:ext uri="{FF2B5EF4-FFF2-40B4-BE49-F238E27FC236}">
                <a16:creationId xmlns:a16="http://schemas.microsoft.com/office/drawing/2014/main" id="{F4DE4011-F382-48B8-9671-FA82A9FCFDFE}"/>
              </a:ext>
            </a:extLst>
          </p:cNvPr>
          <p:cNvPicPr>
            <a:picLocks noChangeAspect="1"/>
          </p:cNvPicPr>
          <p:nvPr/>
        </p:nvPicPr>
        <p:blipFill rotWithShape="1">
          <a:blip r:embed="rId3">
            <a:extLst>
              <a:ext uri="{28A0092B-C50C-407E-A947-70E740481C1C}">
                <a14:useLocalDpi xmlns:a14="http://schemas.microsoft.com/office/drawing/2010/main" val="0"/>
              </a:ext>
            </a:extLst>
          </a:blip>
          <a:srcRect l="10786" t="29969" r="35643" b="23174"/>
          <a:stretch/>
        </p:blipFill>
        <p:spPr>
          <a:xfrm>
            <a:off x="5381899" y="1402080"/>
            <a:ext cx="6656027" cy="3213463"/>
          </a:xfrm>
          <a:prstGeom prst="rect">
            <a:avLst/>
          </a:prstGeom>
        </p:spPr>
      </p:pic>
      <p:graphicFrame>
        <p:nvGraphicFramePr>
          <p:cNvPr id="19" name="Table 18">
            <a:extLst>
              <a:ext uri="{FF2B5EF4-FFF2-40B4-BE49-F238E27FC236}">
                <a16:creationId xmlns:a16="http://schemas.microsoft.com/office/drawing/2014/main" id="{95434BC9-E59E-4FCE-AD1C-0639BB279BBE}"/>
              </a:ext>
            </a:extLst>
          </p:cNvPr>
          <p:cNvGraphicFramePr>
            <a:graphicFrameLocks noGrp="1"/>
          </p:cNvGraphicFramePr>
          <p:nvPr>
            <p:extLst>
              <p:ext uri="{D42A27DB-BD31-4B8C-83A1-F6EECF244321}">
                <p14:modId xmlns:p14="http://schemas.microsoft.com/office/powerpoint/2010/main" val="1297062413"/>
              </p:ext>
            </p:extLst>
          </p:nvPr>
        </p:nvGraphicFramePr>
        <p:xfrm>
          <a:off x="6853645" y="4867343"/>
          <a:ext cx="3321069" cy="1783080"/>
        </p:xfrm>
        <a:graphic>
          <a:graphicData uri="http://schemas.openxmlformats.org/drawingml/2006/table">
            <a:tbl>
              <a:tblPr>
                <a:tableStyleId>{3C2FFA5D-87B4-456A-9821-1D502468CF0F}</a:tableStyleId>
              </a:tblPr>
              <a:tblGrid>
                <a:gridCol w="1891030">
                  <a:extLst>
                    <a:ext uri="{9D8B030D-6E8A-4147-A177-3AD203B41FA5}">
                      <a16:colId xmlns:a16="http://schemas.microsoft.com/office/drawing/2014/main" val="278354581"/>
                    </a:ext>
                  </a:extLst>
                </a:gridCol>
                <a:gridCol w="1430039">
                  <a:extLst>
                    <a:ext uri="{9D8B030D-6E8A-4147-A177-3AD203B41FA5}">
                      <a16:colId xmlns:a16="http://schemas.microsoft.com/office/drawing/2014/main" val="3261264046"/>
                    </a:ext>
                  </a:extLst>
                </a:gridCol>
              </a:tblGrid>
              <a:tr h="0">
                <a:tc>
                  <a:txBody>
                    <a:bodyPr/>
                    <a:lstStyle/>
                    <a:p>
                      <a:r>
                        <a:rPr lang="en-US" sz="1200" b="1" dirty="0">
                          <a:solidFill>
                            <a:schemeClr val="bg1"/>
                          </a:solidFill>
                        </a:rPr>
                        <a:t>Department</a:t>
                      </a:r>
                      <a:endParaRPr lang="en-IN" sz="1200" b="1" dirty="0">
                        <a:solidFill>
                          <a:schemeClr val="bg1"/>
                        </a:solidFill>
                      </a:endParaRPr>
                    </a:p>
                  </a:txBody>
                  <a:tcPr anchor="ctr">
                    <a:solidFill>
                      <a:srgbClr val="FF0000"/>
                    </a:solidFill>
                  </a:tcPr>
                </a:tc>
                <a:tc>
                  <a:txBody>
                    <a:bodyPr/>
                    <a:lstStyle/>
                    <a:p>
                      <a:r>
                        <a:rPr lang="en-US" sz="1200" b="1" dirty="0">
                          <a:solidFill>
                            <a:schemeClr val="bg1"/>
                          </a:solidFill>
                        </a:rPr>
                        <a:t>Avg working years</a:t>
                      </a:r>
                      <a:endParaRPr lang="en-IN" sz="1200" b="1" dirty="0">
                        <a:solidFill>
                          <a:schemeClr val="bg1"/>
                        </a:solidFill>
                      </a:endParaRPr>
                    </a:p>
                  </a:txBody>
                  <a:tcPr anchor="ctr">
                    <a:solidFill>
                      <a:srgbClr val="FF0000"/>
                    </a:solidFill>
                  </a:tcPr>
                </a:tc>
                <a:extLst>
                  <a:ext uri="{0D108BD9-81ED-4DB2-BD59-A6C34878D82A}">
                    <a16:rowId xmlns:a16="http://schemas.microsoft.com/office/drawing/2014/main" val="385127178"/>
                  </a:ext>
                </a:extLst>
              </a:tr>
              <a:tr h="0">
                <a:tc>
                  <a:txBody>
                    <a:bodyPr/>
                    <a:lstStyle/>
                    <a:p>
                      <a:r>
                        <a:rPr lang="en-IN" sz="1050" dirty="0"/>
                        <a:t>Hardware</a:t>
                      </a:r>
                    </a:p>
                  </a:txBody>
                  <a:tcPr anchor="ctr"/>
                </a:tc>
                <a:tc>
                  <a:txBody>
                    <a:bodyPr/>
                    <a:lstStyle/>
                    <a:p>
                      <a:r>
                        <a:rPr lang="en-IN" sz="1050"/>
                        <a:t>6.01 years</a:t>
                      </a:r>
                    </a:p>
                  </a:txBody>
                  <a:tcPr anchor="ctr"/>
                </a:tc>
                <a:extLst>
                  <a:ext uri="{0D108BD9-81ED-4DB2-BD59-A6C34878D82A}">
                    <a16:rowId xmlns:a16="http://schemas.microsoft.com/office/drawing/2014/main" val="3765103538"/>
                  </a:ext>
                </a:extLst>
              </a:tr>
              <a:tr h="0">
                <a:tc>
                  <a:txBody>
                    <a:bodyPr/>
                    <a:lstStyle/>
                    <a:p>
                      <a:r>
                        <a:rPr lang="en-IN" sz="1050" dirty="0"/>
                        <a:t>Support</a:t>
                      </a:r>
                    </a:p>
                  </a:txBody>
                  <a:tcPr anchor="ctr"/>
                </a:tc>
                <a:tc>
                  <a:txBody>
                    <a:bodyPr/>
                    <a:lstStyle/>
                    <a:p>
                      <a:r>
                        <a:rPr lang="en-IN" sz="1050"/>
                        <a:t>5.90 years</a:t>
                      </a:r>
                    </a:p>
                  </a:txBody>
                  <a:tcPr anchor="ctr"/>
                </a:tc>
                <a:extLst>
                  <a:ext uri="{0D108BD9-81ED-4DB2-BD59-A6C34878D82A}">
                    <a16:rowId xmlns:a16="http://schemas.microsoft.com/office/drawing/2014/main" val="919523903"/>
                  </a:ext>
                </a:extLst>
              </a:tr>
              <a:tr h="0">
                <a:tc>
                  <a:txBody>
                    <a:bodyPr/>
                    <a:lstStyle/>
                    <a:p>
                      <a:r>
                        <a:rPr lang="en-IN" sz="1050" dirty="0"/>
                        <a:t>Sales</a:t>
                      </a:r>
                    </a:p>
                  </a:txBody>
                  <a:tcPr anchor="ctr"/>
                </a:tc>
                <a:tc>
                  <a:txBody>
                    <a:bodyPr/>
                    <a:lstStyle/>
                    <a:p>
                      <a:r>
                        <a:rPr lang="en-IN" sz="1050" dirty="0"/>
                        <a:t>5.84 years</a:t>
                      </a:r>
                    </a:p>
                  </a:txBody>
                  <a:tcPr anchor="ctr"/>
                </a:tc>
                <a:extLst>
                  <a:ext uri="{0D108BD9-81ED-4DB2-BD59-A6C34878D82A}">
                    <a16:rowId xmlns:a16="http://schemas.microsoft.com/office/drawing/2014/main" val="1820609640"/>
                  </a:ext>
                </a:extLst>
              </a:tr>
              <a:tr h="0">
                <a:tc>
                  <a:txBody>
                    <a:bodyPr/>
                    <a:lstStyle/>
                    <a:p>
                      <a:r>
                        <a:rPr lang="en-IN" sz="1050"/>
                        <a:t>Research &amp; Development</a:t>
                      </a:r>
                    </a:p>
                  </a:txBody>
                  <a:tcPr anchor="ctr"/>
                </a:tc>
                <a:tc>
                  <a:txBody>
                    <a:bodyPr/>
                    <a:lstStyle/>
                    <a:p>
                      <a:r>
                        <a:rPr lang="en-IN" sz="1050" dirty="0"/>
                        <a:t>5.91 years</a:t>
                      </a:r>
                    </a:p>
                  </a:txBody>
                  <a:tcPr anchor="ctr"/>
                </a:tc>
                <a:extLst>
                  <a:ext uri="{0D108BD9-81ED-4DB2-BD59-A6C34878D82A}">
                    <a16:rowId xmlns:a16="http://schemas.microsoft.com/office/drawing/2014/main" val="3504733214"/>
                  </a:ext>
                </a:extLst>
              </a:tr>
              <a:tr h="0">
                <a:tc>
                  <a:txBody>
                    <a:bodyPr/>
                    <a:lstStyle/>
                    <a:p>
                      <a:r>
                        <a:rPr lang="en-IN" sz="1050"/>
                        <a:t>Software</a:t>
                      </a:r>
                    </a:p>
                  </a:txBody>
                  <a:tcPr anchor="ctr"/>
                </a:tc>
                <a:tc>
                  <a:txBody>
                    <a:bodyPr/>
                    <a:lstStyle/>
                    <a:p>
                      <a:r>
                        <a:rPr lang="en-IN" sz="1050" dirty="0"/>
                        <a:t>5.89 years</a:t>
                      </a:r>
                    </a:p>
                  </a:txBody>
                  <a:tcPr anchor="ctr"/>
                </a:tc>
                <a:extLst>
                  <a:ext uri="{0D108BD9-81ED-4DB2-BD59-A6C34878D82A}">
                    <a16:rowId xmlns:a16="http://schemas.microsoft.com/office/drawing/2014/main" val="544685274"/>
                  </a:ext>
                </a:extLst>
              </a:tr>
              <a:tr h="0">
                <a:tc>
                  <a:txBody>
                    <a:bodyPr/>
                    <a:lstStyle/>
                    <a:p>
                      <a:r>
                        <a:rPr lang="en-IN" sz="1050"/>
                        <a:t>Human Resources</a:t>
                      </a:r>
                    </a:p>
                  </a:txBody>
                  <a:tcPr anchor="ctr"/>
                </a:tc>
                <a:tc>
                  <a:txBody>
                    <a:bodyPr/>
                    <a:lstStyle/>
                    <a:p>
                      <a:r>
                        <a:rPr lang="en-IN" sz="1050" dirty="0"/>
                        <a:t>5.90 years</a:t>
                      </a:r>
                    </a:p>
                  </a:txBody>
                  <a:tcPr anchor="ctr"/>
                </a:tc>
                <a:extLst>
                  <a:ext uri="{0D108BD9-81ED-4DB2-BD59-A6C34878D82A}">
                    <a16:rowId xmlns:a16="http://schemas.microsoft.com/office/drawing/2014/main" val="3633777257"/>
                  </a:ext>
                </a:extLst>
              </a:tr>
            </a:tbl>
          </a:graphicData>
        </a:graphic>
      </p:graphicFrame>
      <p:sp>
        <p:nvSpPr>
          <p:cNvPr id="21" name="TextBox 20">
            <a:extLst>
              <a:ext uri="{FF2B5EF4-FFF2-40B4-BE49-F238E27FC236}">
                <a16:creationId xmlns:a16="http://schemas.microsoft.com/office/drawing/2014/main" id="{520EE735-7632-43F2-A5E0-5A49B33C537B}"/>
              </a:ext>
            </a:extLst>
          </p:cNvPr>
          <p:cNvSpPr txBox="1"/>
          <p:nvPr/>
        </p:nvSpPr>
        <p:spPr>
          <a:xfrm>
            <a:off x="557348" y="1079371"/>
            <a:ext cx="4824551" cy="369332"/>
          </a:xfrm>
          <a:prstGeom prst="rect">
            <a:avLst/>
          </a:prstGeom>
          <a:noFill/>
        </p:spPr>
        <p:txBody>
          <a:bodyPr wrap="square">
            <a:spAutoFit/>
          </a:bodyPr>
          <a:lstStyle/>
          <a:p>
            <a:pPr>
              <a:buClr>
                <a:schemeClr val="tx1"/>
              </a:buClr>
              <a:buSzPct val="81000"/>
            </a:pPr>
            <a:r>
              <a:rPr lang="en-US" sz="1800" dirty="0">
                <a:latin typeface="Times New Roman" panose="02020603050405020304" pitchFamily="18" charset="0"/>
                <a:cs typeface="Times New Roman" panose="02020603050405020304" pitchFamily="18" charset="0"/>
              </a:rPr>
              <a:t>KPI -3 : </a:t>
            </a:r>
            <a:r>
              <a:rPr lang="en-IN" sz="1800" dirty="0">
                <a:latin typeface="Times New Roman" panose="02020603050405020304" pitchFamily="18" charset="0"/>
                <a:cs typeface="Times New Roman" panose="02020603050405020304" pitchFamily="18" charset="0"/>
              </a:rPr>
              <a:t>Attrition rate Vs Monthly income stats</a:t>
            </a:r>
            <a:r>
              <a:rPr lang="en-US" sz="1800" dirty="0">
                <a:latin typeface="Times New Roman" panose="02020603050405020304" pitchFamily="18" charset="0"/>
                <a:cs typeface="Times New Roman" panose="02020603050405020304" pitchFamily="18" charset="0"/>
              </a:rPr>
              <a:t>.</a:t>
            </a:r>
          </a:p>
        </p:txBody>
      </p:sp>
      <p:sp>
        <p:nvSpPr>
          <p:cNvPr id="23" name="TextBox 22">
            <a:extLst>
              <a:ext uri="{FF2B5EF4-FFF2-40B4-BE49-F238E27FC236}">
                <a16:creationId xmlns:a16="http://schemas.microsoft.com/office/drawing/2014/main" id="{57A76316-A63F-4CFB-AD81-2ABCFF4D803E}"/>
              </a:ext>
            </a:extLst>
          </p:cNvPr>
          <p:cNvSpPr txBox="1"/>
          <p:nvPr/>
        </p:nvSpPr>
        <p:spPr>
          <a:xfrm>
            <a:off x="6165669" y="1032748"/>
            <a:ext cx="6096000" cy="369332"/>
          </a:xfrm>
          <a:prstGeom prst="rect">
            <a:avLst/>
          </a:prstGeom>
          <a:noFill/>
        </p:spPr>
        <p:txBody>
          <a:bodyPr wrap="square">
            <a:spAutoFit/>
          </a:bodyPr>
          <a:lstStyle/>
          <a:p>
            <a:pPr>
              <a:buClr>
                <a:schemeClr val="tx1"/>
              </a:buClr>
              <a:buSzPct val="81000"/>
            </a:pPr>
            <a:r>
              <a:rPr lang="en-US" sz="1800" dirty="0">
                <a:latin typeface="Times New Roman" panose="02020603050405020304" pitchFamily="18" charset="0"/>
                <a:cs typeface="Times New Roman" panose="02020603050405020304" pitchFamily="18" charset="0"/>
              </a:rPr>
              <a:t>KPI -4 : </a:t>
            </a:r>
            <a:r>
              <a:rPr lang="en-IN" sz="1800" dirty="0">
                <a:latin typeface="Times New Roman" panose="02020603050405020304" pitchFamily="18" charset="0"/>
                <a:cs typeface="Times New Roman" panose="02020603050405020304" pitchFamily="18" charset="0"/>
              </a:rPr>
              <a:t>Average working years for each Department</a:t>
            </a:r>
            <a:r>
              <a:rPr lang="en-US"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40403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5382A-E052-4EF8-8B08-C19708A037D7}"/>
              </a:ext>
            </a:extLst>
          </p:cNvPr>
          <p:cNvSpPr>
            <a:spLocks noGrp="1"/>
          </p:cNvSpPr>
          <p:nvPr>
            <p:ph type="title"/>
          </p:nvPr>
        </p:nvSpPr>
        <p:spPr>
          <a:xfrm>
            <a:off x="1219202" y="191220"/>
            <a:ext cx="3988526" cy="522642"/>
          </a:xfrm>
          <a:solidFill>
            <a:schemeClr val="accent1">
              <a:alpha val="14000"/>
            </a:schemeClr>
          </a:solidFill>
          <a:ln>
            <a:noFill/>
          </a:ln>
          <a:effectLst/>
        </p:spPr>
        <p:txBody>
          <a:bodyPr vert="horz" lIns="91440" tIns="45720" rIns="91440" bIns="45720" rtlCol="0" anchor="b">
            <a:normAutofit fontScale="90000"/>
          </a:bodyPr>
          <a:lstStyle/>
          <a:p>
            <a:r>
              <a:rPr lang="en-US" sz="3200" b="1" dirty="0">
                <a:latin typeface="Times New Roman" panose="02020603050405020304" pitchFamily="18" charset="0"/>
                <a:cs typeface="Times New Roman" panose="02020603050405020304" pitchFamily="18" charset="0"/>
              </a:rPr>
              <a:t>SQL QUERY</a:t>
            </a:r>
          </a:p>
        </p:txBody>
      </p:sp>
      <p:pic>
        <p:nvPicPr>
          <p:cNvPr id="9" name="Content Placeholder 8">
            <a:extLst>
              <a:ext uri="{FF2B5EF4-FFF2-40B4-BE49-F238E27FC236}">
                <a16:creationId xmlns:a16="http://schemas.microsoft.com/office/drawing/2014/main" id="{8F5C179C-FAC5-404F-9C24-EF1FA32B65E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738" t="25794" r="30257" b="21279"/>
          <a:stretch/>
        </p:blipFill>
        <p:spPr>
          <a:xfrm>
            <a:off x="182879" y="1236553"/>
            <a:ext cx="5686795" cy="2778033"/>
          </a:xfrm>
        </p:spPr>
      </p:pic>
      <p:graphicFrame>
        <p:nvGraphicFramePr>
          <p:cNvPr id="10" name="Table 9">
            <a:extLst>
              <a:ext uri="{FF2B5EF4-FFF2-40B4-BE49-F238E27FC236}">
                <a16:creationId xmlns:a16="http://schemas.microsoft.com/office/drawing/2014/main" id="{81195486-A747-417D-AB99-22E4E9F8A8DD}"/>
              </a:ext>
            </a:extLst>
          </p:cNvPr>
          <p:cNvGraphicFramePr>
            <a:graphicFrameLocks noGrp="1"/>
          </p:cNvGraphicFramePr>
          <p:nvPr>
            <p:extLst>
              <p:ext uri="{D42A27DB-BD31-4B8C-83A1-F6EECF244321}">
                <p14:modId xmlns:p14="http://schemas.microsoft.com/office/powerpoint/2010/main" val="3878867708"/>
              </p:ext>
            </p:extLst>
          </p:nvPr>
        </p:nvGraphicFramePr>
        <p:xfrm>
          <a:off x="1644579" y="4149904"/>
          <a:ext cx="4201547" cy="2712720"/>
        </p:xfrm>
        <a:graphic>
          <a:graphicData uri="http://schemas.openxmlformats.org/drawingml/2006/table">
            <a:tbl>
              <a:tblPr/>
              <a:tblGrid>
                <a:gridCol w="2313244">
                  <a:extLst>
                    <a:ext uri="{9D8B030D-6E8A-4147-A177-3AD203B41FA5}">
                      <a16:colId xmlns:a16="http://schemas.microsoft.com/office/drawing/2014/main" val="4159145992"/>
                    </a:ext>
                  </a:extLst>
                </a:gridCol>
                <a:gridCol w="1888303">
                  <a:extLst>
                    <a:ext uri="{9D8B030D-6E8A-4147-A177-3AD203B41FA5}">
                      <a16:colId xmlns:a16="http://schemas.microsoft.com/office/drawing/2014/main" val="1958983651"/>
                    </a:ext>
                  </a:extLst>
                </a:gridCol>
              </a:tblGrid>
              <a:tr h="0">
                <a:tc>
                  <a:txBody>
                    <a:bodyPr/>
                    <a:lstStyle/>
                    <a:p>
                      <a:r>
                        <a:rPr lang="en-US" sz="1200" b="1" dirty="0">
                          <a:solidFill>
                            <a:schemeClr val="bg1"/>
                          </a:solidFill>
                        </a:rPr>
                        <a:t>Job Role</a:t>
                      </a:r>
                      <a:endParaRPr lang="en-IN" sz="12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r>
                        <a:rPr lang="en-US" sz="1200" b="1" dirty="0">
                          <a:solidFill>
                            <a:schemeClr val="bg1"/>
                          </a:solidFill>
                        </a:rPr>
                        <a:t>% Of Work Life Balance</a:t>
                      </a:r>
                      <a:endParaRPr lang="en-IN" sz="12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611805111"/>
                  </a:ext>
                </a:extLst>
              </a:tr>
              <a:tr h="0">
                <a:tc>
                  <a:txBody>
                    <a:bodyPr/>
                    <a:lstStyle/>
                    <a:p>
                      <a:r>
                        <a:rPr lang="en-IN" sz="1000" dirty="0"/>
                        <a:t>Research Director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dirty="0"/>
                        <a:t>10.03%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6971759"/>
                  </a:ext>
                </a:extLst>
              </a:tr>
              <a:tr h="0">
                <a:tc>
                  <a:txBody>
                    <a:bodyPr/>
                    <a:lstStyle/>
                    <a:p>
                      <a:r>
                        <a:rPr lang="en-IN" sz="1000" dirty="0"/>
                        <a:t>Sales Executive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000"/>
                        <a:t>9.99%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7714363"/>
                  </a:ext>
                </a:extLst>
              </a:tr>
              <a:tr h="0">
                <a:tc>
                  <a:txBody>
                    <a:bodyPr/>
                    <a:lstStyle/>
                    <a:p>
                      <a:r>
                        <a:rPr lang="en-IN" sz="1000" dirty="0"/>
                        <a:t>Human Resources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9.88%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9577105"/>
                  </a:ext>
                </a:extLst>
              </a:tr>
              <a:tr h="0">
                <a:tc>
                  <a:txBody>
                    <a:bodyPr/>
                    <a:lstStyle/>
                    <a:p>
                      <a:r>
                        <a:rPr lang="en-IN" sz="1000" dirty="0"/>
                        <a:t>Manufacturing Director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9.96%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992891"/>
                  </a:ext>
                </a:extLst>
              </a:tr>
              <a:tr h="0">
                <a:tc>
                  <a:txBody>
                    <a:bodyPr/>
                    <a:lstStyle/>
                    <a:p>
                      <a:r>
                        <a:rPr lang="en-IN" sz="1000" dirty="0"/>
                        <a:t>Developer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10.02%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9124348"/>
                  </a:ext>
                </a:extLst>
              </a:tr>
              <a:tr h="0">
                <a:tc>
                  <a:txBody>
                    <a:bodyPr/>
                    <a:lstStyle/>
                    <a:p>
                      <a:r>
                        <a:rPr lang="en-IN" sz="1000"/>
                        <a:t>Manager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10.06%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5118126"/>
                  </a:ext>
                </a:extLst>
              </a:tr>
              <a:tr h="0">
                <a:tc>
                  <a:txBody>
                    <a:bodyPr/>
                    <a:lstStyle/>
                    <a:p>
                      <a:r>
                        <a:rPr lang="en-IN" sz="1000"/>
                        <a:t>Sales Representative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dirty="0"/>
                        <a:t>10.04%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8426815"/>
                  </a:ext>
                </a:extLst>
              </a:tr>
              <a:tr h="0">
                <a:tc>
                  <a:txBody>
                    <a:bodyPr/>
                    <a:lstStyle/>
                    <a:p>
                      <a:r>
                        <a:rPr lang="en-IN" sz="1000"/>
                        <a:t>Healthcare Representative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dirty="0"/>
                        <a:t>10.12%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8163508"/>
                  </a:ext>
                </a:extLst>
              </a:tr>
              <a:tr h="0">
                <a:tc>
                  <a:txBody>
                    <a:bodyPr/>
                    <a:lstStyle/>
                    <a:p>
                      <a:r>
                        <a:rPr lang="en-IN" sz="1000"/>
                        <a:t>Laboratory Technician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dirty="0"/>
                        <a:t>9.79%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9577332"/>
                  </a:ext>
                </a:extLst>
              </a:tr>
              <a:tr h="0">
                <a:tc>
                  <a:txBody>
                    <a:bodyPr/>
                    <a:lstStyle/>
                    <a:p>
                      <a:r>
                        <a:rPr lang="en-IN" sz="1000"/>
                        <a:t>Research Scientist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dirty="0"/>
                        <a:t>10.11%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0137175"/>
                  </a:ext>
                </a:extLst>
              </a:tr>
            </a:tbl>
          </a:graphicData>
        </a:graphic>
      </p:graphicFrame>
      <p:pic>
        <p:nvPicPr>
          <p:cNvPr id="13" name="Picture 12">
            <a:extLst>
              <a:ext uri="{FF2B5EF4-FFF2-40B4-BE49-F238E27FC236}">
                <a16:creationId xmlns:a16="http://schemas.microsoft.com/office/drawing/2014/main" id="{415BA4AF-C245-4C56-A3F0-3C2A25C896F9}"/>
              </a:ext>
            </a:extLst>
          </p:cNvPr>
          <p:cNvPicPr>
            <a:picLocks noChangeAspect="1"/>
          </p:cNvPicPr>
          <p:nvPr/>
        </p:nvPicPr>
        <p:blipFill rotWithShape="1">
          <a:blip r:embed="rId3">
            <a:extLst>
              <a:ext uri="{28A0092B-C50C-407E-A947-70E740481C1C}">
                <a14:useLocalDpi xmlns:a14="http://schemas.microsoft.com/office/drawing/2010/main" val="0"/>
              </a:ext>
            </a:extLst>
          </a:blip>
          <a:srcRect l="10715" t="22858" r="35143" b="20889"/>
          <a:stretch/>
        </p:blipFill>
        <p:spPr>
          <a:xfrm>
            <a:off x="6598375" y="1072758"/>
            <a:ext cx="5033649" cy="2941828"/>
          </a:xfrm>
          <a:prstGeom prst="rect">
            <a:avLst/>
          </a:prstGeom>
        </p:spPr>
      </p:pic>
      <p:graphicFrame>
        <p:nvGraphicFramePr>
          <p:cNvPr id="15" name="Table 14">
            <a:extLst>
              <a:ext uri="{FF2B5EF4-FFF2-40B4-BE49-F238E27FC236}">
                <a16:creationId xmlns:a16="http://schemas.microsoft.com/office/drawing/2014/main" id="{C5C5CC6D-D7CE-4D8B-AA6A-569ABEB9D874}"/>
              </a:ext>
            </a:extLst>
          </p:cNvPr>
          <p:cNvGraphicFramePr>
            <a:graphicFrameLocks noGrp="1"/>
          </p:cNvGraphicFramePr>
          <p:nvPr>
            <p:extLst>
              <p:ext uri="{D42A27DB-BD31-4B8C-83A1-F6EECF244321}">
                <p14:modId xmlns:p14="http://schemas.microsoft.com/office/powerpoint/2010/main" val="2097096070"/>
              </p:ext>
            </p:extLst>
          </p:nvPr>
        </p:nvGraphicFramePr>
        <p:xfrm>
          <a:off x="6345875" y="4084255"/>
          <a:ext cx="5538651" cy="2712720"/>
        </p:xfrm>
        <a:graphic>
          <a:graphicData uri="http://schemas.openxmlformats.org/drawingml/2006/table">
            <a:tbl>
              <a:tblPr/>
              <a:tblGrid>
                <a:gridCol w="1846217">
                  <a:extLst>
                    <a:ext uri="{9D8B030D-6E8A-4147-A177-3AD203B41FA5}">
                      <a16:colId xmlns:a16="http://schemas.microsoft.com/office/drawing/2014/main" val="4235808751"/>
                    </a:ext>
                  </a:extLst>
                </a:gridCol>
                <a:gridCol w="2162400">
                  <a:extLst>
                    <a:ext uri="{9D8B030D-6E8A-4147-A177-3AD203B41FA5}">
                      <a16:colId xmlns:a16="http://schemas.microsoft.com/office/drawing/2014/main" val="1815422000"/>
                    </a:ext>
                  </a:extLst>
                </a:gridCol>
                <a:gridCol w="1530034">
                  <a:extLst>
                    <a:ext uri="{9D8B030D-6E8A-4147-A177-3AD203B41FA5}">
                      <a16:colId xmlns:a16="http://schemas.microsoft.com/office/drawing/2014/main" val="2383224379"/>
                    </a:ext>
                  </a:extLst>
                </a:gridCol>
              </a:tblGrid>
              <a:tr h="0">
                <a:tc>
                  <a:txBody>
                    <a:bodyPr/>
                    <a:lstStyle/>
                    <a:p>
                      <a:r>
                        <a:rPr lang="en-US" sz="1200" b="1" dirty="0">
                          <a:solidFill>
                            <a:schemeClr val="bg1"/>
                          </a:solidFill>
                        </a:rPr>
                        <a:t>Job Role</a:t>
                      </a:r>
                      <a:endParaRPr lang="en-IN" sz="12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r>
                        <a:rPr lang="en-US" sz="1200" b="1" dirty="0">
                          <a:solidFill>
                            <a:schemeClr val="bg1"/>
                          </a:solidFill>
                        </a:rPr>
                        <a:t>Promotion delay in %</a:t>
                      </a:r>
                      <a:endParaRPr lang="en-IN" sz="12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r>
                        <a:rPr lang="en-US" sz="1200" b="1" dirty="0">
                          <a:solidFill>
                            <a:schemeClr val="bg1"/>
                          </a:solidFill>
                        </a:rPr>
                        <a:t>Attrition 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729651903"/>
                  </a:ext>
                </a:extLst>
              </a:tr>
              <a:tr h="0">
                <a:tc>
                  <a:txBody>
                    <a:bodyPr/>
                    <a:lstStyle/>
                    <a:p>
                      <a:r>
                        <a:rPr lang="en-IN" sz="1000" dirty="0"/>
                        <a:t>Research Director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9.99%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50.36%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881585"/>
                  </a:ext>
                </a:extLst>
              </a:tr>
              <a:tr h="0">
                <a:tc>
                  <a:txBody>
                    <a:bodyPr/>
                    <a:lstStyle/>
                    <a:p>
                      <a:r>
                        <a:rPr lang="en-IN" sz="1000" dirty="0"/>
                        <a:t>Sales Executive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10.21%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50.41%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1020803"/>
                  </a:ext>
                </a:extLst>
              </a:tr>
              <a:tr h="0">
                <a:tc>
                  <a:txBody>
                    <a:bodyPr/>
                    <a:lstStyle/>
                    <a:p>
                      <a:r>
                        <a:rPr lang="en-IN" sz="1000" dirty="0"/>
                        <a:t>Human Resources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dirty="0"/>
                        <a:t>9.87%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50.57%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574213"/>
                  </a:ext>
                </a:extLst>
              </a:tr>
              <a:tr h="0">
                <a:tc>
                  <a:txBody>
                    <a:bodyPr/>
                    <a:lstStyle/>
                    <a:p>
                      <a:r>
                        <a:rPr lang="en-IN" sz="1000"/>
                        <a:t>Manufacturing Director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dirty="0"/>
                        <a:t>10.16%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49.96%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375691"/>
                  </a:ext>
                </a:extLst>
              </a:tr>
              <a:tr h="0">
                <a:tc>
                  <a:txBody>
                    <a:bodyPr/>
                    <a:lstStyle/>
                    <a:p>
                      <a:r>
                        <a:rPr lang="en-IN" sz="1000"/>
                        <a:t>Developer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dirty="0"/>
                        <a:t>9.75%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50.37%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7280532"/>
                  </a:ext>
                </a:extLst>
              </a:tr>
              <a:tr h="0">
                <a:tc>
                  <a:txBody>
                    <a:bodyPr/>
                    <a:lstStyle/>
                    <a:p>
                      <a:r>
                        <a:rPr lang="en-IN" sz="1000"/>
                        <a:t>Manager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dirty="0"/>
                        <a:t>10.21%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50.42%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9931319"/>
                  </a:ext>
                </a:extLst>
              </a:tr>
              <a:tr h="0">
                <a:tc>
                  <a:txBody>
                    <a:bodyPr/>
                    <a:lstStyle/>
                    <a:p>
                      <a:r>
                        <a:rPr lang="en-IN" sz="1000"/>
                        <a:t>Sales Representative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dirty="0"/>
                        <a:t>10.19%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50.43%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2762265"/>
                  </a:ext>
                </a:extLst>
              </a:tr>
              <a:tr h="0">
                <a:tc>
                  <a:txBody>
                    <a:bodyPr/>
                    <a:lstStyle/>
                    <a:p>
                      <a:r>
                        <a:rPr lang="en-IN" sz="1000"/>
                        <a:t>Healthcare Representative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dirty="0"/>
                        <a:t>9.90%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a:t>50.27%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2887358"/>
                  </a:ext>
                </a:extLst>
              </a:tr>
              <a:tr h="0">
                <a:tc>
                  <a:txBody>
                    <a:bodyPr/>
                    <a:lstStyle/>
                    <a:p>
                      <a:r>
                        <a:rPr lang="en-IN" sz="1000"/>
                        <a:t>Laboratory Technician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dirty="0"/>
                        <a:t>9.70%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dirty="0"/>
                        <a:t>50.43%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16219"/>
                  </a:ext>
                </a:extLst>
              </a:tr>
              <a:tr h="0">
                <a:tc>
                  <a:txBody>
                    <a:bodyPr/>
                    <a:lstStyle/>
                    <a:p>
                      <a:r>
                        <a:rPr lang="en-IN" sz="1000" dirty="0"/>
                        <a:t>Research Scientist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000" dirty="0"/>
                        <a:t>10.01%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000" dirty="0"/>
                        <a:t>48.91%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88102077"/>
                  </a:ext>
                </a:extLst>
              </a:tr>
            </a:tbl>
          </a:graphicData>
        </a:graphic>
      </p:graphicFrame>
      <p:sp>
        <p:nvSpPr>
          <p:cNvPr id="17" name="TextBox 16">
            <a:extLst>
              <a:ext uri="{FF2B5EF4-FFF2-40B4-BE49-F238E27FC236}">
                <a16:creationId xmlns:a16="http://schemas.microsoft.com/office/drawing/2014/main" id="{8F69CF2D-EC7F-483E-A12B-593AE7FC401C}"/>
              </a:ext>
            </a:extLst>
          </p:cNvPr>
          <p:cNvSpPr txBox="1"/>
          <p:nvPr/>
        </p:nvSpPr>
        <p:spPr>
          <a:xfrm>
            <a:off x="502375" y="888092"/>
            <a:ext cx="5686795" cy="369332"/>
          </a:xfrm>
          <a:prstGeom prst="rect">
            <a:avLst/>
          </a:prstGeom>
          <a:noFill/>
        </p:spPr>
        <p:txBody>
          <a:bodyPr wrap="square">
            <a:spAutoFit/>
          </a:bodyPr>
          <a:lstStyle/>
          <a:p>
            <a:pPr>
              <a:buClr>
                <a:schemeClr val="tx1"/>
              </a:buClr>
              <a:buSzPct val="81000"/>
            </a:pPr>
            <a:r>
              <a:rPr lang="en-US" sz="1800" dirty="0">
                <a:latin typeface="Times New Roman" panose="02020603050405020304" pitchFamily="18" charset="0"/>
                <a:cs typeface="Times New Roman" panose="02020603050405020304" pitchFamily="18" charset="0"/>
              </a:rPr>
              <a:t>KPI -5 : </a:t>
            </a:r>
            <a:r>
              <a:rPr lang="en-IN" sz="1800" dirty="0">
                <a:latin typeface="Times New Roman" panose="02020603050405020304" pitchFamily="18" charset="0"/>
                <a:cs typeface="Times New Roman" panose="02020603050405020304" pitchFamily="18" charset="0"/>
              </a:rPr>
              <a:t>Job Role Vs Work life balance.</a:t>
            </a:r>
          </a:p>
        </p:txBody>
      </p:sp>
      <p:sp>
        <p:nvSpPr>
          <p:cNvPr id="19" name="TextBox 18">
            <a:extLst>
              <a:ext uri="{FF2B5EF4-FFF2-40B4-BE49-F238E27FC236}">
                <a16:creationId xmlns:a16="http://schemas.microsoft.com/office/drawing/2014/main" id="{86740F48-B4E1-4D0A-9F15-0C722C70053B}"/>
              </a:ext>
            </a:extLst>
          </p:cNvPr>
          <p:cNvSpPr txBox="1"/>
          <p:nvPr/>
        </p:nvSpPr>
        <p:spPr>
          <a:xfrm>
            <a:off x="6380806" y="668592"/>
            <a:ext cx="6096000" cy="369332"/>
          </a:xfrm>
          <a:prstGeom prst="rect">
            <a:avLst/>
          </a:prstGeom>
          <a:noFill/>
        </p:spPr>
        <p:txBody>
          <a:bodyPr wrap="square">
            <a:spAutoFit/>
          </a:bodyPr>
          <a:lstStyle/>
          <a:p>
            <a:pPr>
              <a:buClr>
                <a:schemeClr val="tx1"/>
              </a:buClr>
              <a:buSzPct val="81000"/>
            </a:pPr>
            <a:r>
              <a:rPr lang="en-US" sz="1800" dirty="0">
                <a:latin typeface="Times New Roman" panose="02020603050405020304" pitchFamily="18" charset="0"/>
                <a:cs typeface="Times New Roman" panose="02020603050405020304" pitchFamily="18" charset="0"/>
              </a:rPr>
              <a:t>KPI -6 : </a:t>
            </a:r>
            <a:r>
              <a:rPr lang="en-IN" sz="1800" dirty="0">
                <a:latin typeface="Times New Roman" panose="02020603050405020304" pitchFamily="18" charset="0"/>
                <a:cs typeface="Times New Roman" panose="02020603050405020304" pitchFamily="18" charset="0"/>
              </a:rPr>
              <a:t>Attrition rate Vs Year since last promotion relation.</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327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1C55D-08B4-42CF-A74D-4884047623B0}"/>
              </a:ext>
            </a:extLst>
          </p:cNvPr>
          <p:cNvSpPr>
            <a:spLocks noGrp="1"/>
          </p:cNvSpPr>
          <p:nvPr>
            <p:ph type="title"/>
          </p:nvPr>
        </p:nvSpPr>
        <p:spPr>
          <a:xfrm>
            <a:off x="1104293" y="626890"/>
            <a:ext cx="4625947" cy="583602"/>
          </a:xfrm>
          <a:solidFill>
            <a:schemeClr val="accent1">
              <a:alpha val="14000"/>
            </a:schemeClr>
          </a:solidFill>
          <a:ln>
            <a:noFill/>
          </a:ln>
          <a:effectLst/>
        </p:spPr>
        <p:txBody>
          <a:bodyPr vert="horz" lIns="91440" tIns="45720" rIns="91440" bIns="45720" rtlCol="0" anchor="b">
            <a:normAutofit/>
          </a:bodyPr>
          <a:lstStyle/>
          <a:p>
            <a:r>
              <a:rPr lang="en-US" sz="3200" b="1" dirty="0">
                <a:latin typeface="Times New Roman" panose="02020603050405020304" pitchFamily="18" charset="0"/>
                <a:cs typeface="Times New Roman" panose="02020603050405020304" pitchFamily="18" charset="0"/>
              </a:rPr>
              <a:t>SUGGESTIONS</a:t>
            </a:r>
            <a:endParaRPr lang="en-IN"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B50801F-FF0E-40A8-8DE2-51FF090A300B}"/>
              </a:ext>
            </a:extLst>
          </p:cNvPr>
          <p:cNvSpPr txBox="1"/>
          <p:nvPr/>
        </p:nvSpPr>
        <p:spPr>
          <a:xfrm>
            <a:off x="1171302" y="1408112"/>
            <a:ext cx="9117876" cy="954107"/>
          </a:xfrm>
          <a:prstGeom prst="rect">
            <a:avLst/>
          </a:prstGeom>
          <a:noFill/>
        </p:spPr>
        <p:txBody>
          <a:bodyPr wrap="square" rtlCol="0">
            <a:spAutoFit/>
          </a:bodyPr>
          <a:lstStyle/>
          <a:p>
            <a:pPr marL="285750" indent="-285750">
              <a:buClr>
                <a:schemeClr val="accent1"/>
              </a:buClr>
              <a:buSzPct val="12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 can </a:t>
            </a:r>
            <a:r>
              <a:rPr lang="en-US" sz="2000" dirty="0">
                <a:latin typeface="Times New Roman" panose="02020603050405020304" pitchFamily="18" charset="0"/>
                <a:cs typeface="Times New Roman" panose="02020603050405020304" pitchFamily="18" charset="0"/>
              </a:rPr>
              <a:t>reduce</a:t>
            </a:r>
            <a:r>
              <a:rPr lang="en-US" dirty="0">
                <a:latin typeface="Times New Roman" panose="02020603050405020304" pitchFamily="18" charset="0"/>
                <a:cs typeface="Times New Roman" panose="02020603050405020304" pitchFamily="18" charset="0"/>
              </a:rPr>
              <a:t> employee attrition and retain employees by overcoming low pay, addressing poor work-life balance, creating career growth opportunities, offering flexible work arrangement.</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1C7A12E-B9E4-41E0-AE97-653C16C76A8E}"/>
              </a:ext>
            </a:extLst>
          </p:cNvPr>
          <p:cNvSpPr txBox="1"/>
          <p:nvPr/>
        </p:nvSpPr>
        <p:spPr>
          <a:xfrm>
            <a:off x="1104293" y="2432115"/>
            <a:ext cx="10157709" cy="923330"/>
          </a:xfrm>
          <a:prstGeom prst="rect">
            <a:avLst/>
          </a:prstGeom>
          <a:noFill/>
        </p:spPr>
        <p:txBody>
          <a:bodyPr wrap="square" rtlCol="0">
            <a:spAutoFit/>
          </a:bodyPr>
          <a:lstStyle/>
          <a:p>
            <a:pPr marL="285750" indent="-285750">
              <a:buClr>
                <a:schemeClr val="accent1"/>
              </a:buClr>
              <a:buSzPct val="12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Despite of high income attrition are more here which indicates income is not the only sole for happening attrition, and need to focus on other factors like job satisfaction, work life balance, career development opportunities which are equally important in retaining employees.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F279A9A-6500-4F72-8277-AC5A7EFD271A}"/>
              </a:ext>
            </a:extLst>
          </p:cNvPr>
          <p:cNvSpPr txBox="1"/>
          <p:nvPr/>
        </p:nvSpPr>
        <p:spPr>
          <a:xfrm>
            <a:off x="1104293" y="3425342"/>
            <a:ext cx="9527177" cy="646331"/>
          </a:xfrm>
          <a:prstGeom prst="rect">
            <a:avLst/>
          </a:prstGeom>
          <a:noFill/>
        </p:spPr>
        <p:txBody>
          <a:bodyPr wrap="square" rtlCol="0">
            <a:spAutoFit/>
          </a:bodyPr>
          <a:lstStyle/>
          <a:p>
            <a:pPr marL="285750" indent="-285750">
              <a:buClr>
                <a:schemeClr val="accent1"/>
              </a:buClr>
              <a:buSzPct val="12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 can improve the working years of employees by lower overall stress, offering career growth opportunities</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7B45714-6EBF-4E2D-8556-166F80379B08}"/>
              </a:ext>
            </a:extLst>
          </p:cNvPr>
          <p:cNvSpPr txBox="1"/>
          <p:nvPr/>
        </p:nvSpPr>
        <p:spPr>
          <a:xfrm>
            <a:off x="1138418" y="4141570"/>
            <a:ext cx="9592943" cy="646331"/>
          </a:xfrm>
          <a:prstGeom prst="rect">
            <a:avLst/>
          </a:prstGeom>
          <a:noFill/>
        </p:spPr>
        <p:txBody>
          <a:bodyPr wrap="square">
            <a:spAutoFit/>
          </a:bodyPr>
          <a:lstStyle/>
          <a:p>
            <a:pPr marL="285750" indent="-285750">
              <a:buClr>
                <a:schemeClr val="accent1"/>
              </a:buClr>
              <a:buSzPct val="1200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Should focus on improving work life balance by promoting boundaries, prioritizing task, encourage time off, by encouraging breaks and downtime.</a:t>
            </a:r>
          </a:p>
        </p:txBody>
      </p:sp>
      <p:sp>
        <p:nvSpPr>
          <p:cNvPr id="7" name="TextBox 6">
            <a:extLst>
              <a:ext uri="{FF2B5EF4-FFF2-40B4-BE49-F238E27FC236}">
                <a16:creationId xmlns:a16="http://schemas.microsoft.com/office/drawing/2014/main" id="{1BAAB496-7C8E-4603-9C12-5DFF1688149B}"/>
              </a:ext>
            </a:extLst>
          </p:cNvPr>
          <p:cNvSpPr txBox="1"/>
          <p:nvPr/>
        </p:nvSpPr>
        <p:spPr>
          <a:xfrm>
            <a:off x="1104293" y="4803557"/>
            <a:ext cx="9967516" cy="646331"/>
          </a:xfrm>
          <a:prstGeom prst="rect">
            <a:avLst/>
          </a:prstGeom>
          <a:noFill/>
        </p:spPr>
        <p:txBody>
          <a:bodyPr wrap="square" rtlCol="0">
            <a:spAutoFit/>
          </a:bodyPr>
          <a:lstStyle/>
          <a:p>
            <a:pPr marL="285750" indent="-285750">
              <a:buClr>
                <a:schemeClr val="accent1"/>
              </a:buClr>
              <a:buSzPct val="12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Attrition can be reduced by making improvement in reducing delays in the employees promotions which motivates employee to stay long term with organization.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5667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1C55D-08B4-42CF-A74D-4884047623B0}"/>
              </a:ext>
            </a:extLst>
          </p:cNvPr>
          <p:cNvSpPr>
            <a:spLocks noGrp="1"/>
          </p:cNvSpPr>
          <p:nvPr>
            <p:ph type="title"/>
          </p:nvPr>
        </p:nvSpPr>
        <p:spPr>
          <a:xfrm>
            <a:off x="1104293" y="626890"/>
            <a:ext cx="3276118" cy="583602"/>
          </a:xfrm>
          <a:solidFill>
            <a:schemeClr val="accent1">
              <a:alpha val="14000"/>
            </a:schemeClr>
          </a:solidFill>
          <a:ln>
            <a:noFill/>
          </a:ln>
          <a:effectLst/>
        </p:spPr>
        <p:txBody>
          <a:bodyPr vert="horz" lIns="91440" tIns="45720" rIns="91440" bIns="45720" rtlCol="0" anchor="b">
            <a:normAutofit/>
          </a:bodyPr>
          <a:lstStyle/>
          <a:p>
            <a:r>
              <a:rPr lang="en-US" sz="3200" b="1" dirty="0">
                <a:latin typeface="Times New Roman" panose="02020603050405020304" pitchFamily="18" charset="0"/>
                <a:cs typeface="Times New Roman" panose="02020603050405020304" pitchFamily="18" charset="0"/>
              </a:rPr>
              <a:t>CONCLUSION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CABDEA-6BBD-4429-902F-E76B881605C2}"/>
              </a:ext>
            </a:extLst>
          </p:cNvPr>
          <p:cNvSpPr>
            <a:spLocks noGrp="1"/>
          </p:cNvSpPr>
          <p:nvPr>
            <p:ph idx="1"/>
          </p:nvPr>
        </p:nvSpPr>
        <p:spPr>
          <a:xfrm>
            <a:off x="1104293" y="1442243"/>
            <a:ext cx="10079522" cy="2888598"/>
          </a:xfrm>
        </p:spPr>
        <p:txBody>
          <a:bodyPr>
            <a:normAutofit/>
          </a:bodyPr>
          <a:lstStyle/>
          <a:p>
            <a:r>
              <a:rPr lang="en-US" sz="2000" dirty="0">
                <a:latin typeface="Times New Roman" panose="02020603050405020304" pitchFamily="18" charset="0"/>
                <a:cs typeface="Times New Roman" panose="02020603050405020304" pitchFamily="18" charset="0"/>
              </a:rPr>
              <a:t>Human Resource (HR) Analytics is a crucial tool that enables HR professionals to make data-driven decisions related to employee behavior, performance, and engagement to improve organizational performance. </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Working on such data helped us in understanding various HR metrics and concepts. This knowledge enables us to deliver proper insights which guides HR in making decision which contributes in both employee satisfaction &amp; business growth.</a:t>
            </a:r>
          </a:p>
        </p:txBody>
      </p:sp>
    </p:spTree>
    <p:extLst>
      <p:ext uri="{BB962C8B-B14F-4D97-AF65-F5344CB8AC3E}">
        <p14:creationId xmlns:p14="http://schemas.microsoft.com/office/powerpoint/2010/main" val="3580841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1FA0E-6CAB-4D28-8DA7-2CF86CB12F16}"/>
              </a:ext>
            </a:extLst>
          </p:cNvPr>
          <p:cNvSpPr>
            <a:spLocks noGrp="1"/>
          </p:cNvSpPr>
          <p:nvPr>
            <p:ph type="title"/>
          </p:nvPr>
        </p:nvSpPr>
        <p:spPr>
          <a:xfrm>
            <a:off x="2022065" y="1782953"/>
            <a:ext cx="5240884" cy="1837635"/>
          </a:xfrm>
        </p:spPr>
        <p:txBody>
          <a:bodyPr>
            <a:normAutofit fontScale="90000"/>
          </a:bodyPr>
          <a:lstStyle/>
          <a:p>
            <a:r>
              <a:rPr lang="en-US" sz="13800" dirty="0">
                <a:solidFill>
                  <a:schemeClr val="accent1"/>
                </a:solidFill>
              </a:rPr>
              <a:t>Thank</a:t>
            </a:r>
            <a:endParaRPr lang="en-IN" sz="13800" dirty="0">
              <a:solidFill>
                <a:schemeClr val="accent1"/>
              </a:solidFill>
            </a:endParaRPr>
          </a:p>
        </p:txBody>
      </p:sp>
      <p:sp>
        <p:nvSpPr>
          <p:cNvPr id="5" name="TextBox 4">
            <a:extLst>
              <a:ext uri="{FF2B5EF4-FFF2-40B4-BE49-F238E27FC236}">
                <a16:creationId xmlns:a16="http://schemas.microsoft.com/office/drawing/2014/main" id="{86ED8202-6F64-4603-8C78-7935CDD2D440}"/>
              </a:ext>
            </a:extLst>
          </p:cNvPr>
          <p:cNvSpPr txBox="1"/>
          <p:nvPr/>
        </p:nvSpPr>
        <p:spPr>
          <a:xfrm>
            <a:off x="7262949" y="2053440"/>
            <a:ext cx="2690949" cy="1569660"/>
          </a:xfrm>
          <a:prstGeom prst="rect">
            <a:avLst/>
          </a:prstGeom>
          <a:noFill/>
        </p:spPr>
        <p:txBody>
          <a:bodyPr wrap="square">
            <a:spAutoFit/>
          </a:bodyPr>
          <a:lstStyle/>
          <a:p>
            <a:r>
              <a:rPr lang="en-US" sz="9600" dirty="0">
                <a:solidFill>
                  <a:schemeClr val="accent1"/>
                </a:solidFill>
              </a:rPr>
              <a:t>You</a:t>
            </a:r>
            <a:endParaRPr lang="en-IN" dirty="0">
              <a:solidFill>
                <a:schemeClr val="accent1"/>
              </a:solidFill>
            </a:endParaRPr>
          </a:p>
        </p:txBody>
      </p:sp>
    </p:spTree>
    <p:extLst>
      <p:ext uri="{BB962C8B-B14F-4D97-AF65-F5344CB8AC3E}">
        <p14:creationId xmlns:p14="http://schemas.microsoft.com/office/powerpoint/2010/main" val="31812669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72</TotalTime>
  <Words>964</Words>
  <Application>Microsoft Office PowerPoint</Application>
  <PresentationFormat>Widescreen</PresentationFormat>
  <Paragraphs>209</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Arial</vt:lpstr>
      <vt:lpstr>Calibri</vt:lpstr>
      <vt:lpstr>Corbel</vt:lpstr>
      <vt:lpstr>Times New Roman</vt:lpstr>
      <vt:lpstr>Wingdings</vt:lpstr>
      <vt:lpstr>Parallax</vt:lpstr>
      <vt:lpstr>HR ANALYSIS</vt:lpstr>
      <vt:lpstr>INDEX</vt:lpstr>
      <vt:lpstr>INTRODUCTION</vt:lpstr>
      <vt:lpstr>KPI - 1 : Average Attrition rate for all Departments</vt:lpstr>
      <vt:lpstr>KPI - 2 : Average Hourly rate of Male Research Scientist</vt:lpstr>
      <vt:lpstr>KPI - 3 : Attrition rate Vs Monthly income stats</vt:lpstr>
      <vt:lpstr>KPI - 4 : Average working years for each Department</vt:lpstr>
      <vt:lpstr>KPI - 5 : Job Role Vs Work life balance</vt:lpstr>
      <vt:lpstr>KPI - 6 : Attrition rate Vs Year since last promotion relation</vt:lpstr>
      <vt:lpstr>EXCEL DASHBOARD</vt:lpstr>
      <vt:lpstr>POWERBI DASHBOARD</vt:lpstr>
      <vt:lpstr>TABLEAU DASHBOARD</vt:lpstr>
      <vt:lpstr>SQL QUERY</vt:lpstr>
      <vt:lpstr>SQL QUERY</vt:lpstr>
      <vt:lpstr>SQL QUERY</vt:lpstr>
      <vt:lpstr>SUGGESTIONS</vt:lpstr>
      <vt:lpstr>CONCLUSION</vt:lpstr>
      <vt:lpstr>Thank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ANALYSIS</dc:title>
  <dc:creator>sandeep ganji</dc:creator>
  <cp:lastModifiedBy>sandeep ganji</cp:lastModifiedBy>
  <cp:revision>8</cp:revision>
  <dcterms:created xsi:type="dcterms:W3CDTF">2024-05-30T09:17:50Z</dcterms:created>
  <dcterms:modified xsi:type="dcterms:W3CDTF">2024-05-30T10:29:51Z</dcterms:modified>
</cp:coreProperties>
</file>